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5"/>
  </p:notesMasterIdLst>
  <p:sldIdLst>
    <p:sldId id="256" r:id="rId2"/>
    <p:sldId id="271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2" r:id="rId14"/>
  </p:sldIdLst>
  <p:sldSz cx="9144000" cy="5143500" type="screen16x9"/>
  <p:notesSz cx="6858000" cy="9144000"/>
  <p:embeddedFontLst>
    <p:embeddedFont>
      <p:font typeface="PT Sans Narrow" panose="02020500000000000000" charset="0"/>
      <p:regular r:id="rId16"/>
      <p:bold r:id="rId17"/>
    </p:embeddedFont>
    <p:embeddedFont>
      <p:font typeface="DFKai-SB" panose="03000509000000000000" pitchFamily="65" charset="-120"/>
      <p:regular r:id="rId18"/>
    </p:embeddedFont>
    <p:embeddedFont>
      <p:font typeface="Microsoft JhengHei" panose="020B0604030504040204" pitchFamily="34" charset="-120"/>
      <p:regular r:id="rId19"/>
      <p:bold r:id="rId20"/>
    </p:embeddedFont>
    <p:embeddedFont>
      <p:font typeface="Open Sans" panose="02020500000000000000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1194" y="4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da9e5416b7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da9e5416b7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da9e5416b7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1" name="Google Shape;111;gda9e5416b7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da9e5416b7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7" name="Google Shape;117;gda9e5416b7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da9e5416b7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5" name="Google Shape;125;gda9e5416b7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dcebb8f32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6" name="Google Shape;146;gdcebb8f32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dcebb8f32a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0" name="Google Shape;160;gdcebb8f32a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dcebb8f32a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0" name="Google Shape;170;gdcebb8f32a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dcebb8f32a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3" name="Google Shape;183;gdcebb8f32a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dcebb8f32a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5" name="Google Shape;195;gdcebb8f32a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dcebb8f32a_0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4" name="Google Shape;204;gdcebb8f32a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2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6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>
            <a:spLocks noGrp="1"/>
          </p:cNvSpPr>
          <p:nvPr>
            <p:ph type="body" idx="1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>
            <a:endParaRPr/>
          </a:p>
        </p:txBody>
      </p:sp>
      <p:sp>
        <p:nvSpPr>
          <p:cNvPr id="54" name="Google Shape;5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>
            <a:spLocks noGrp="1"/>
          </p:cNvSpPr>
          <p:nvPr>
            <p:ph type="body" idx="1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物件" type="obj">
  <p:cSld name="OBJEC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>
            <a:spLocks noGrp="1"/>
          </p:cNvSpPr>
          <p:nvPr>
            <p:ph type="title"/>
          </p:nvPr>
        </p:nvSpPr>
        <p:spPr>
          <a:xfrm>
            <a:off x="685800" y="171450"/>
            <a:ext cx="77724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body" idx="1"/>
          </p:nvPr>
        </p:nvSpPr>
        <p:spPr>
          <a:xfrm>
            <a:off x="685800" y="971550"/>
            <a:ext cx="7772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  <p:transition spd="med">
    <p:push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tropic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DFKai-SB"/>
              <a:buNone/>
              <a:defRPr sz="3600" b="1">
                <a:solidFill>
                  <a:schemeClr val="accent1"/>
                </a:solidFill>
                <a:latin typeface="DFKai-SB"/>
                <a:ea typeface="DFKai-SB"/>
                <a:cs typeface="DFKai-SB"/>
                <a:sym typeface="DFKai-S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DFKai-SB"/>
              <a:buNone/>
              <a:defRPr sz="3600" b="1">
                <a:solidFill>
                  <a:schemeClr val="accent1"/>
                </a:solidFill>
                <a:latin typeface="DFKai-SB"/>
                <a:ea typeface="DFKai-SB"/>
                <a:cs typeface="DFKai-SB"/>
                <a:sym typeface="DFKai-S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DFKai-SB"/>
              <a:buNone/>
              <a:defRPr sz="3600" b="1">
                <a:solidFill>
                  <a:schemeClr val="accent1"/>
                </a:solidFill>
                <a:latin typeface="DFKai-SB"/>
                <a:ea typeface="DFKai-SB"/>
                <a:cs typeface="DFKai-SB"/>
                <a:sym typeface="DFKai-S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DFKai-SB"/>
              <a:buNone/>
              <a:defRPr sz="3600" b="1">
                <a:solidFill>
                  <a:schemeClr val="accent1"/>
                </a:solidFill>
                <a:latin typeface="DFKai-SB"/>
                <a:ea typeface="DFKai-SB"/>
                <a:cs typeface="DFKai-SB"/>
                <a:sym typeface="DFKai-S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DFKai-SB"/>
              <a:buNone/>
              <a:defRPr sz="3600" b="1">
                <a:solidFill>
                  <a:schemeClr val="accent1"/>
                </a:solidFill>
                <a:latin typeface="DFKai-SB"/>
                <a:ea typeface="DFKai-SB"/>
                <a:cs typeface="DFKai-SB"/>
                <a:sym typeface="DFKai-S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DFKai-SB"/>
              <a:buNone/>
              <a:defRPr sz="3600" b="1">
                <a:solidFill>
                  <a:schemeClr val="accent1"/>
                </a:solidFill>
                <a:latin typeface="DFKai-SB"/>
                <a:ea typeface="DFKai-SB"/>
                <a:cs typeface="DFKai-SB"/>
                <a:sym typeface="DFKai-S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DFKai-SB"/>
              <a:buNone/>
              <a:defRPr sz="3600" b="1">
                <a:solidFill>
                  <a:schemeClr val="accent1"/>
                </a:solidFill>
                <a:latin typeface="DFKai-SB"/>
                <a:ea typeface="DFKai-SB"/>
                <a:cs typeface="DFKai-SB"/>
                <a:sym typeface="DFKai-S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DFKai-SB"/>
              <a:buNone/>
              <a:defRPr sz="3600" b="1">
                <a:solidFill>
                  <a:schemeClr val="accent1"/>
                </a:solidFill>
                <a:latin typeface="DFKai-SB"/>
                <a:ea typeface="DFKai-SB"/>
                <a:cs typeface="DFKai-SB"/>
                <a:sym typeface="DFKai-S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DFKai-SB"/>
              <a:buNone/>
              <a:defRPr sz="3600" b="1">
                <a:solidFill>
                  <a:schemeClr val="accent1"/>
                </a:solidFill>
                <a:latin typeface="DFKai-SB"/>
                <a:ea typeface="DFKai-SB"/>
                <a:cs typeface="DFKai-SB"/>
                <a:sym typeface="DFKai-SB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DFKai-SB"/>
              <a:buChar char="●"/>
              <a:defRPr sz="1800">
                <a:solidFill>
                  <a:schemeClr val="dk2"/>
                </a:solidFill>
                <a:latin typeface="DFKai-SB"/>
                <a:ea typeface="DFKai-SB"/>
                <a:cs typeface="DFKai-SB"/>
                <a:sym typeface="DFKai-SB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FKai-SB"/>
              <a:buChar char="○"/>
              <a:defRPr>
                <a:solidFill>
                  <a:schemeClr val="dk2"/>
                </a:solidFill>
                <a:latin typeface="DFKai-SB"/>
                <a:ea typeface="DFKai-SB"/>
                <a:cs typeface="DFKai-SB"/>
                <a:sym typeface="DFKai-SB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FKai-SB"/>
              <a:buChar char="■"/>
              <a:defRPr>
                <a:solidFill>
                  <a:schemeClr val="dk2"/>
                </a:solidFill>
                <a:latin typeface="DFKai-SB"/>
                <a:ea typeface="DFKai-SB"/>
                <a:cs typeface="DFKai-SB"/>
                <a:sym typeface="DFKai-SB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FKai-SB"/>
              <a:buChar char="●"/>
              <a:defRPr>
                <a:solidFill>
                  <a:schemeClr val="dk2"/>
                </a:solidFill>
                <a:latin typeface="DFKai-SB"/>
                <a:ea typeface="DFKai-SB"/>
                <a:cs typeface="DFKai-SB"/>
                <a:sym typeface="DFKai-SB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FKai-SB"/>
              <a:buChar char="○"/>
              <a:defRPr>
                <a:solidFill>
                  <a:schemeClr val="dk2"/>
                </a:solidFill>
                <a:latin typeface="DFKai-SB"/>
                <a:ea typeface="DFKai-SB"/>
                <a:cs typeface="DFKai-SB"/>
                <a:sym typeface="DFKai-SB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FKai-SB"/>
              <a:buChar char="■"/>
              <a:defRPr>
                <a:solidFill>
                  <a:schemeClr val="dk2"/>
                </a:solidFill>
                <a:latin typeface="DFKai-SB"/>
                <a:ea typeface="DFKai-SB"/>
                <a:cs typeface="DFKai-SB"/>
                <a:sym typeface="DFKai-SB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FKai-SB"/>
              <a:buChar char="●"/>
              <a:defRPr>
                <a:solidFill>
                  <a:schemeClr val="dk2"/>
                </a:solidFill>
                <a:latin typeface="DFKai-SB"/>
                <a:ea typeface="DFKai-SB"/>
                <a:cs typeface="DFKai-SB"/>
                <a:sym typeface="DFKai-SB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FKai-SB"/>
              <a:buChar char="○"/>
              <a:defRPr>
                <a:solidFill>
                  <a:schemeClr val="dk2"/>
                </a:solidFill>
                <a:latin typeface="DFKai-SB"/>
                <a:ea typeface="DFKai-SB"/>
                <a:cs typeface="DFKai-SB"/>
                <a:sym typeface="DFKai-SB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DFKai-SB"/>
              <a:buChar char="■"/>
              <a:defRPr>
                <a:solidFill>
                  <a:schemeClr val="dk2"/>
                </a:solidFill>
                <a:latin typeface="DFKai-SB"/>
                <a:ea typeface="DFKai-SB"/>
                <a:cs typeface="DFKai-SB"/>
                <a:sym typeface="DFKai-SB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ctrTitle"/>
          </p:nvPr>
        </p:nvSpPr>
        <p:spPr>
          <a:xfrm>
            <a:off x="788625" y="1182250"/>
            <a:ext cx="7425300" cy="187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dirty="0" smtClean="0">
                <a:latin typeface="Times New Roman"/>
                <a:ea typeface="Times New Roman"/>
                <a:cs typeface="Times New Roman"/>
                <a:sym typeface="Times New Roman"/>
              </a:rPr>
              <a:t>Python</a:t>
            </a:r>
            <a:r>
              <a:rPr lang="en-US" altLang="zh-TW" dirty="0" smtClean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zh-TW" altLang="en-US" dirty="0" smtClean="0">
                <a:latin typeface="Times New Roman"/>
                <a:ea typeface="Times New Roman"/>
                <a:cs typeface="Times New Roman"/>
                <a:sym typeface="Times New Roman"/>
              </a:rPr>
              <a:t>類別寫法補充</a:t>
            </a:r>
            <a:endParaRPr dirty="0"/>
          </a:p>
        </p:txBody>
      </p:sp>
      <p:sp>
        <p:nvSpPr>
          <p:cNvPr id="70" name="Google Shape;70;p14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.</a:t>
            </a:r>
            <a:r>
              <a:rPr lang="en-US" altLang="zh-TW" dirty="0" err="1" smtClean="0"/>
              <a:t>ui</a:t>
            </a:r>
            <a:r>
              <a:rPr lang="zh-TW" altLang="en-US" dirty="0" smtClean="0"/>
              <a:t>與</a:t>
            </a:r>
            <a:r>
              <a:rPr lang="en-US" altLang="zh-TW" dirty="0" smtClean="0"/>
              <a:t>.</a:t>
            </a:r>
            <a:r>
              <a:rPr lang="en-US" altLang="zh-TW" dirty="0" err="1" smtClean="0"/>
              <a:t>py</a:t>
            </a:r>
            <a:r>
              <a:rPr lang="zh-TW" altLang="en-US" dirty="0" smtClean="0"/>
              <a:t>檔案獨立</a:t>
            </a:r>
            <a:endParaRPr lang="zh-TW" altLang="en-US" dirty="0"/>
          </a:p>
        </p:txBody>
      </p:sp>
      <p:sp>
        <p:nvSpPr>
          <p:cNvPr id="3" name="矩形 2"/>
          <p:cNvSpPr/>
          <p:nvPr/>
        </p:nvSpPr>
        <p:spPr>
          <a:xfrm>
            <a:off x="1935480" y="1897380"/>
            <a:ext cx="1653540" cy="701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矩形 3"/>
          <p:cNvSpPr/>
          <p:nvPr/>
        </p:nvSpPr>
        <p:spPr>
          <a:xfrm>
            <a:off x="4686300" y="1897380"/>
            <a:ext cx="1653540" cy="701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2575340" y="1589603"/>
            <a:ext cx="37382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.</a:t>
            </a:r>
            <a:r>
              <a:rPr lang="en-US" altLang="zh-TW" dirty="0" err="1"/>
              <a:t>ui</a:t>
            </a:r>
            <a:endParaRPr lang="zh-TW" altLang="en-US" dirty="0"/>
          </a:p>
        </p:txBody>
      </p:sp>
      <p:sp>
        <p:nvSpPr>
          <p:cNvPr id="6" name="矩形 5"/>
          <p:cNvSpPr/>
          <p:nvPr/>
        </p:nvSpPr>
        <p:spPr>
          <a:xfrm>
            <a:off x="5301313" y="1589602"/>
            <a:ext cx="42351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.</a:t>
            </a:r>
            <a:r>
              <a:rPr lang="en-US" altLang="zh-TW" dirty="0" err="1"/>
              <a:t>py</a:t>
            </a:r>
            <a:endParaRPr lang="zh-TW" altLang="en-US" dirty="0"/>
          </a:p>
        </p:txBody>
      </p:sp>
      <p:cxnSp>
        <p:nvCxnSpPr>
          <p:cNvPr id="8" name="直線接點 7"/>
          <p:cNvCxnSpPr/>
          <p:nvPr/>
        </p:nvCxnSpPr>
        <p:spPr>
          <a:xfrm>
            <a:off x="3642360" y="2247900"/>
            <a:ext cx="381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/>
          <p:cNvCxnSpPr/>
          <p:nvPr/>
        </p:nvCxnSpPr>
        <p:spPr>
          <a:xfrm>
            <a:off x="4191000" y="2247900"/>
            <a:ext cx="381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/>
          <p:nvPr/>
        </p:nvCxnSpPr>
        <p:spPr>
          <a:xfrm>
            <a:off x="4023360" y="2087880"/>
            <a:ext cx="182880" cy="4419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3832860" y="1780103"/>
            <a:ext cx="54373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/>
              <a:t>獨立</a:t>
            </a:r>
          </a:p>
        </p:txBody>
      </p:sp>
      <p:sp>
        <p:nvSpPr>
          <p:cNvPr id="17" name="文字方塊 16"/>
          <p:cNvSpPr txBox="1"/>
          <p:nvPr/>
        </p:nvSpPr>
        <p:spPr>
          <a:xfrm>
            <a:off x="739140" y="3169920"/>
            <a:ext cx="560922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 smtClean="0"/>
              <a:t>好處</a:t>
            </a:r>
            <a:endParaRPr lang="en-US" altLang="zh-TW" dirty="0" smtClean="0"/>
          </a:p>
          <a:p>
            <a:r>
              <a:rPr lang="en-US" altLang="zh-TW" dirty="0" err="1" smtClean="0"/>
              <a:t>ui</a:t>
            </a:r>
            <a:r>
              <a:rPr lang="zh-TW" altLang="en-US" dirty="0" smtClean="0"/>
              <a:t>介面有改變，不會重寫</a:t>
            </a:r>
            <a:r>
              <a:rPr lang="en-US" altLang="zh-TW" dirty="0" smtClean="0"/>
              <a:t>.</a:t>
            </a:r>
            <a:r>
              <a:rPr lang="en-US" altLang="zh-TW" dirty="0" err="1" smtClean="0"/>
              <a:t>py</a:t>
            </a:r>
            <a:r>
              <a:rPr lang="zh-TW" altLang="en-US" dirty="0" smtClean="0"/>
              <a:t>的程式</a:t>
            </a:r>
            <a:r>
              <a:rPr lang="en-US" altLang="zh-TW" dirty="0" smtClean="0"/>
              <a:t>, </a:t>
            </a:r>
            <a:r>
              <a:rPr lang="zh-TW" altLang="en-US" dirty="0" smtClean="0"/>
              <a:t>兩者互相獨立</a:t>
            </a:r>
            <a:r>
              <a:rPr lang="en-US" altLang="zh-TW" dirty="0" smtClean="0"/>
              <a:t>, </a:t>
            </a:r>
            <a:r>
              <a:rPr lang="zh-TW" altLang="en-US" dirty="0" smtClean="0"/>
              <a:t>程式的結構性增加</a:t>
            </a:r>
            <a:endParaRPr lang="en-US" altLang="zh-TW" dirty="0" smtClean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652107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 txBox="1">
            <a:spLocks noGrp="1"/>
          </p:cNvSpPr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PyQt</a:t>
            </a:r>
            <a:endParaRPr/>
          </a:p>
        </p:txBody>
      </p:sp>
      <p:sp>
        <p:nvSpPr>
          <p:cNvPr id="108" name="Google Shape;108;p19"/>
          <p:cNvSpPr txBox="1">
            <a:spLocks noGrp="1"/>
          </p:cNvSpPr>
          <p:nvPr>
            <p:ph type="title"/>
          </p:nvPr>
        </p:nvSpPr>
        <p:spPr>
          <a:xfrm>
            <a:off x="184200" y="2748925"/>
            <a:ext cx="8848800" cy="234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Char char="❖"/>
            </a:pPr>
            <a:r>
              <a:rPr lang="zh-TW" sz="2400">
                <a:solidFill>
                  <a:srgbClr val="FFFF00"/>
                </a:solidFill>
              </a:rPr>
              <a:t>非常好用的 GUI 界面框架</a:t>
            </a:r>
            <a:endParaRPr sz="2400">
              <a:solidFill>
                <a:srgbClr val="FFFF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>
            <a:spLocks noGrp="1"/>
          </p:cNvSpPr>
          <p:nvPr>
            <p:ph type="title"/>
          </p:nvPr>
        </p:nvSpPr>
        <p:spPr>
          <a:xfrm>
            <a:off x="685800" y="171450"/>
            <a:ext cx="7772400" cy="5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PyQt</a:t>
            </a:r>
            <a:r>
              <a:rPr lang="zh-TW"/>
              <a:t> 安裝</a:t>
            </a:r>
            <a:endParaRPr/>
          </a:p>
        </p:txBody>
      </p:sp>
      <p:sp>
        <p:nvSpPr>
          <p:cNvPr id="114" name="Google Shape;114;p20"/>
          <p:cNvSpPr txBox="1">
            <a:spLocks noGrp="1"/>
          </p:cNvSpPr>
          <p:nvPr>
            <p:ph type="body" idx="1"/>
          </p:nvPr>
        </p:nvSpPr>
        <p:spPr>
          <a:xfrm>
            <a:off x="685800" y="971550"/>
            <a:ext cx="7772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Font typeface="Microsoft JhengHei"/>
              <a:buChar char="•"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pip install PyQt5:</a:t>
            </a:r>
            <a:r>
              <a:rPr lang="zh-TW"/>
              <a:t> 安裝</a:t>
            </a: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PyQt</a:t>
            </a:r>
            <a:endParaRPr/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Font typeface="Microsoft JhengHei"/>
              <a:buChar char="•"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pip install pyqt5-tools:</a:t>
            </a:r>
            <a:r>
              <a:rPr lang="zh-TW"/>
              <a:t> 安裝相關工具，包含</a:t>
            </a: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QtDesigner.exe</a:t>
            </a:r>
            <a:endParaRPr/>
          </a:p>
        </p:txBody>
      </p:sp>
    </p:spTree>
  </p:cSld>
  <p:clrMapOvr>
    <a:masterClrMapping/>
  </p:clrMapOvr>
  <p:transition spd="med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 txBox="1">
            <a:spLocks noGrp="1"/>
          </p:cNvSpPr>
          <p:nvPr>
            <p:ph type="title"/>
          </p:nvPr>
        </p:nvSpPr>
        <p:spPr>
          <a:xfrm>
            <a:off x="685800" y="171450"/>
            <a:ext cx="7772400" cy="5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VS Code </a:t>
            </a:r>
            <a:r>
              <a:rPr lang="zh-TW"/>
              <a:t>設定 </a:t>
            </a: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PyQt </a:t>
            </a:r>
            <a:r>
              <a:rPr lang="zh-TW"/>
              <a:t>環境 </a:t>
            </a:r>
            <a:endParaRPr/>
          </a:p>
        </p:txBody>
      </p:sp>
      <p:sp>
        <p:nvSpPr>
          <p:cNvPr id="120" name="Google Shape;120;p21"/>
          <p:cNvSpPr/>
          <p:nvPr/>
        </p:nvSpPr>
        <p:spPr>
          <a:xfrm>
            <a:off x="2044800" y="685650"/>
            <a:ext cx="5054400" cy="514200"/>
          </a:xfrm>
          <a:prstGeom prst="bevel">
            <a:avLst>
              <a:gd name="adj" fmla="val 12500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 b="1">
                <a:solidFill>
                  <a:srgbClr val="0000FF"/>
                </a:solidFill>
              </a:rPr>
              <a:t>(1) </a:t>
            </a:r>
            <a:r>
              <a:rPr lang="zh-TW" sz="2000" b="1">
                <a:solidFill>
                  <a:srgbClr val="0000FF"/>
                </a:solidFill>
                <a:latin typeface="DFKai-SB"/>
                <a:ea typeface="DFKai-SB"/>
                <a:cs typeface="DFKai-SB"/>
                <a:sym typeface="DFKai-SB"/>
              </a:rPr>
              <a:t>在</a:t>
            </a:r>
            <a:r>
              <a:rPr lang="zh-TW" sz="2000" b="1">
                <a:solidFill>
                  <a:srgbClr val="0000FF"/>
                </a:solidFill>
              </a:rPr>
              <a:t>Extensions</a:t>
            </a:r>
            <a:r>
              <a:rPr lang="zh-TW" sz="2000" b="1">
                <a:solidFill>
                  <a:srgbClr val="0000FF"/>
                </a:solidFill>
                <a:latin typeface="DFKai-SB"/>
                <a:ea typeface="DFKai-SB"/>
                <a:cs typeface="DFKai-SB"/>
                <a:sym typeface="DFKai-SB"/>
              </a:rPr>
              <a:t>中安装</a:t>
            </a:r>
            <a:r>
              <a:rPr lang="zh-TW" sz="2000" b="1">
                <a:solidFill>
                  <a:srgbClr val="0000FF"/>
                </a:solidFill>
              </a:rPr>
              <a:t>pyqt integration</a:t>
            </a:r>
            <a:endParaRPr sz="2000"/>
          </a:p>
        </p:txBody>
      </p:sp>
      <p:pic>
        <p:nvPicPr>
          <p:cNvPr id="121" name="Google Shape;12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0263" y="1199850"/>
            <a:ext cx="5923474" cy="3816324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1"/>
          <p:cNvSpPr/>
          <p:nvPr/>
        </p:nvSpPr>
        <p:spPr>
          <a:xfrm>
            <a:off x="1610275" y="2839125"/>
            <a:ext cx="2272800" cy="4329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ransition spd="med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013" y="1390825"/>
            <a:ext cx="4362374" cy="2810551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2"/>
          <p:cNvSpPr txBox="1">
            <a:spLocks noGrp="1"/>
          </p:cNvSpPr>
          <p:nvPr>
            <p:ph type="title"/>
          </p:nvPr>
        </p:nvSpPr>
        <p:spPr>
          <a:xfrm>
            <a:off x="685800" y="171450"/>
            <a:ext cx="7772400" cy="5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VS Code </a:t>
            </a:r>
            <a:r>
              <a:rPr lang="zh-TW"/>
              <a:t>設定 </a:t>
            </a: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PyQt </a:t>
            </a:r>
            <a:r>
              <a:rPr lang="zh-TW"/>
              <a:t>環境 </a:t>
            </a:r>
            <a:endParaRPr/>
          </a:p>
        </p:txBody>
      </p:sp>
      <p:sp>
        <p:nvSpPr>
          <p:cNvPr id="129" name="Google Shape;129;p22"/>
          <p:cNvSpPr/>
          <p:nvPr/>
        </p:nvSpPr>
        <p:spPr>
          <a:xfrm>
            <a:off x="2044788" y="709138"/>
            <a:ext cx="5054400" cy="514200"/>
          </a:xfrm>
          <a:prstGeom prst="bevel">
            <a:avLst>
              <a:gd name="adj" fmla="val 12500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 b="1">
                <a:solidFill>
                  <a:srgbClr val="0000FF"/>
                </a:solidFill>
              </a:rPr>
              <a:t>(2) </a:t>
            </a:r>
            <a:r>
              <a:rPr lang="zh-TW" sz="2000" b="1">
                <a:solidFill>
                  <a:srgbClr val="0000FF"/>
                </a:solidFill>
                <a:latin typeface="DFKai-SB"/>
                <a:ea typeface="DFKai-SB"/>
                <a:cs typeface="DFKai-SB"/>
                <a:sym typeface="DFKai-SB"/>
              </a:rPr>
              <a:t>設定</a:t>
            </a:r>
            <a:r>
              <a:rPr lang="zh-TW" sz="2000" b="1">
                <a:solidFill>
                  <a:srgbClr val="0000FF"/>
                </a:solidFill>
              </a:rPr>
              <a:t>QT designer</a:t>
            </a:r>
            <a:r>
              <a:rPr lang="zh-TW" sz="2000" b="1">
                <a:solidFill>
                  <a:srgbClr val="0000FF"/>
                </a:solidFill>
                <a:latin typeface="DFKai-SB"/>
                <a:ea typeface="DFKai-SB"/>
                <a:cs typeface="DFKai-SB"/>
                <a:sym typeface="DFKai-SB"/>
              </a:rPr>
              <a:t>與</a:t>
            </a:r>
            <a:r>
              <a:rPr lang="zh-TW" sz="2000" b="1">
                <a:solidFill>
                  <a:srgbClr val="0000FF"/>
                </a:solidFill>
              </a:rPr>
              <a:t>pyuic5</a:t>
            </a:r>
            <a:r>
              <a:rPr lang="zh-TW" sz="2000" b="1">
                <a:solidFill>
                  <a:srgbClr val="0000FF"/>
                </a:solidFill>
                <a:latin typeface="DFKai-SB"/>
                <a:ea typeface="DFKai-SB"/>
                <a:cs typeface="DFKai-SB"/>
                <a:sym typeface="DFKai-SB"/>
              </a:rPr>
              <a:t>的路徑</a:t>
            </a:r>
            <a:endParaRPr sz="2000"/>
          </a:p>
        </p:txBody>
      </p:sp>
      <p:sp>
        <p:nvSpPr>
          <p:cNvPr id="130" name="Google Shape;130;p22"/>
          <p:cNvSpPr/>
          <p:nvPr/>
        </p:nvSpPr>
        <p:spPr>
          <a:xfrm>
            <a:off x="96025" y="3825375"/>
            <a:ext cx="260400" cy="2742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22"/>
          <p:cNvSpPr/>
          <p:nvPr/>
        </p:nvSpPr>
        <p:spPr>
          <a:xfrm>
            <a:off x="432950" y="2385275"/>
            <a:ext cx="1400400" cy="1824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2" name="Google Shape;132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70101" y="1246825"/>
            <a:ext cx="4273901" cy="30985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2"/>
          <p:cNvSpPr/>
          <p:nvPr/>
        </p:nvSpPr>
        <p:spPr>
          <a:xfrm>
            <a:off x="4458375" y="2509600"/>
            <a:ext cx="411900" cy="573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22"/>
          <p:cNvSpPr/>
          <p:nvPr/>
        </p:nvSpPr>
        <p:spPr>
          <a:xfrm>
            <a:off x="6582225" y="1616900"/>
            <a:ext cx="2482500" cy="1824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22"/>
          <p:cNvSpPr txBox="1"/>
          <p:nvPr/>
        </p:nvSpPr>
        <p:spPr>
          <a:xfrm>
            <a:off x="96025" y="3424750"/>
            <a:ext cx="598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 b="1">
                <a:solidFill>
                  <a:srgbClr val="FF9900"/>
                </a:solidFill>
              </a:rPr>
              <a:t>2.1</a:t>
            </a:r>
            <a:endParaRPr>
              <a:solidFill>
                <a:srgbClr val="FF9900"/>
              </a:solidFill>
            </a:endParaRPr>
          </a:p>
        </p:txBody>
      </p:sp>
      <p:sp>
        <p:nvSpPr>
          <p:cNvPr id="136" name="Google Shape;136;p22"/>
          <p:cNvSpPr txBox="1"/>
          <p:nvPr/>
        </p:nvSpPr>
        <p:spPr>
          <a:xfrm>
            <a:off x="356425" y="1971475"/>
            <a:ext cx="598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 b="1">
                <a:solidFill>
                  <a:srgbClr val="FF9900"/>
                </a:solidFill>
              </a:rPr>
              <a:t>2.2</a:t>
            </a:r>
            <a:endParaRPr>
              <a:solidFill>
                <a:srgbClr val="FF9900"/>
              </a:solidFill>
            </a:endParaRPr>
          </a:p>
        </p:txBody>
      </p:sp>
      <p:sp>
        <p:nvSpPr>
          <p:cNvPr id="137" name="Google Shape;137;p22"/>
          <p:cNvSpPr txBox="1"/>
          <p:nvPr/>
        </p:nvSpPr>
        <p:spPr>
          <a:xfrm>
            <a:off x="6582225" y="1136175"/>
            <a:ext cx="598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 b="1">
                <a:solidFill>
                  <a:srgbClr val="FF9900"/>
                </a:solidFill>
              </a:rPr>
              <a:t>2.3</a:t>
            </a:r>
            <a:endParaRPr>
              <a:solidFill>
                <a:srgbClr val="FF9900"/>
              </a:solidFill>
            </a:endParaRPr>
          </a:p>
        </p:txBody>
      </p:sp>
      <p:sp>
        <p:nvSpPr>
          <p:cNvPr id="138" name="Google Shape;138;p22"/>
          <p:cNvSpPr/>
          <p:nvPr/>
        </p:nvSpPr>
        <p:spPr>
          <a:xfrm>
            <a:off x="6661500" y="3734950"/>
            <a:ext cx="2482500" cy="4665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22"/>
          <p:cNvSpPr/>
          <p:nvPr/>
        </p:nvSpPr>
        <p:spPr>
          <a:xfrm>
            <a:off x="6661500" y="2045675"/>
            <a:ext cx="2482500" cy="4665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22"/>
          <p:cNvSpPr txBox="1"/>
          <p:nvPr/>
        </p:nvSpPr>
        <p:spPr>
          <a:xfrm>
            <a:off x="6582225" y="1616900"/>
            <a:ext cx="24825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 b="1">
                <a:solidFill>
                  <a:srgbClr val="FF9900"/>
                </a:solidFill>
              </a:rPr>
              <a:t>2.4 </a:t>
            </a:r>
            <a:r>
              <a:rPr lang="zh-TW" sz="2000" b="1">
                <a:solidFill>
                  <a:srgbClr val="FF9900"/>
                </a:solidFill>
                <a:latin typeface="DFKai-SB"/>
                <a:ea typeface="DFKai-SB"/>
                <a:cs typeface="DFKai-SB"/>
                <a:sym typeface="DFKai-SB"/>
              </a:rPr>
              <a:t>通常是預設路徑</a:t>
            </a:r>
            <a:endParaRPr>
              <a:solidFill>
                <a:srgbClr val="FF9900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141" name="Google Shape;141;p22"/>
          <p:cNvSpPr txBox="1"/>
          <p:nvPr/>
        </p:nvSpPr>
        <p:spPr>
          <a:xfrm>
            <a:off x="5706500" y="3333575"/>
            <a:ext cx="3513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 b="1">
                <a:solidFill>
                  <a:srgbClr val="FF9900"/>
                </a:solidFill>
              </a:rPr>
              <a:t>2.5 放置designer的正確路徑</a:t>
            </a:r>
            <a:endParaRPr sz="2000" b="1">
              <a:solidFill>
                <a:srgbClr val="FF9900"/>
              </a:solidFill>
            </a:endParaRPr>
          </a:p>
        </p:txBody>
      </p:sp>
      <p:sp>
        <p:nvSpPr>
          <p:cNvPr id="142" name="Google Shape;142;p22"/>
          <p:cNvSpPr txBox="1"/>
          <p:nvPr/>
        </p:nvSpPr>
        <p:spPr>
          <a:xfrm>
            <a:off x="432925" y="4362425"/>
            <a:ext cx="87111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 b="1">
                <a:solidFill>
                  <a:srgbClr val="FF0000"/>
                </a:solidFill>
                <a:latin typeface="DFKai-SB"/>
                <a:ea typeface="DFKai-SB"/>
                <a:cs typeface="DFKai-SB"/>
                <a:sym typeface="DFKai-SB"/>
              </a:rPr>
              <a:t>通常在上述安裝路徑下的</a:t>
            </a:r>
            <a:r>
              <a:rPr lang="zh-TW" sz="1200" b="1">
                <a:solidFill>
                  <a:srgbClr val="FF0000"/>
                </a:solidFill>
              </a:rPr>
              <a:t>Lib\site-packages\qt5_applications\Qt\bin</a:t>
            </a:r>
            <a:endParaRPr sz="1200" b="1"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 b="1">
                <a:solidFill>
                  <a:srgbClr val="FF0000"/>
                </a:solidFill>
              </a:rPr>
              <a:t>ex: C:\Users\user\AppData\Local\Programs\Python\Python39\</a:t>
            </a:r>
            <a:r>
              <a:rPr lang="zh-TW" sz="1200" b="1">
                <a:solidFill>
                  <a:srgbClr val="990000"/>
                </a:solidFill>
              </a:rPr>
              <a:t>Lib\site-packages\qt5_applications\Qt\bin\designer.exe</a:t>
            </a:r>
            <a:endParaRPr sz="1200" b="1">
              <a:solidFill>
                <a:srgbClr val="990000"/>
              </a:solidFill>
            </a:endParaRPr>
          </a:p>
        </p:txBody>
      </p:sp>
      <p:sp>
        <p:nvSpPr>
          <p:cNvPr id="143" name="Google Shape;143;p22"/>
          <p:cNvSpPr/>
          <p:nvPr/>
        </p:nvSpPr>
        <p:spPr>
          <a:xfrm>
            <a:off x="-25" y="4267312"/>
            <a:ext cx="536700" cy="52650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rgbClr val="9900FF"/>
          </a:solidFill>
          <a:ln w="19050" cap="flat" cmpd="sng">
            <a:solidFill>
              <a:srgbClr val="775F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ransition spd="med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0275" y="1277249"/>
            <a:ext cx="4194451" cy="3040963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3"/>
          <p:cNvSpPr txBox="1">
            <a:spLocks noGrp="1"/>
          </p:cNvSpPr>
          <p:nvPr>
            <p:ph type="title"/>
          </p:nvPr>
        </p:nvSpPr>
        <p:spPr>
          <a:xfrm>
            <a:off x="685800" y="171450"/>
            <a:ext cx="7772400" cy="5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zh-TW"/>
              <a:t>開啟 </a:t>
            </a: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Qt Designer </a:t>
            </a:r>
            <a:r>
              <a:rPr lang="zh-TW"/>
              <a:t>編輯 </a:t>
            </a:r>
            <a:endParaRPr/>
          </a:p>
        </p:txBody>
      </p:sp>
      <p:pic>
        <p:nvPicPr>
          <p:cNvPr id="150" name="Google Shape;150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6013" y="1390825"/>
            <a:ext cx="4362374" cy="2810551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3"/>
          <p:cNvSpPr/>
          <p:nvPr/>
        </p:nvSpPr>
        <p:spPr>
          <a:xfrm>
            <a:off x="96025" y="3825375"/>
            <a:ext cx="260400" cy="2742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23"/>
          <p:cNvSpPr/>
          <p:nvPr/>
        </p:nvSpPr>
        <p:spPr>
          <a:xfrm>
            <a:off x="432950" y="2213100"/>
            <a:ext cx="1400400" cy="1824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23"/>
          <p:cNvSpPr/>
          <p:nvPr/>
        </p:nvSpPr>
        <p:spPr>
          <a:xfrm>
            <a:off x="4458375" y="2509600"/>
            <a:ext cx="411900" cy="573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23"/>
          <p:cNvSpPr/>
          <p:nvPr/>
        </p:nvSpPr>
        <p:spPr>
          <a:xfrm>
            <a:off x="5652850" y="1555050"/>
            <a:ext cx="1336800" cy="1824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23"/>
          <p:cNvSpPr txBox="1"/>
          <p:nvPr/>
        </p:nvSpPr>
        <p:spPr>
          <a:xfrm>
            <a:off x="96025" y="3424750"/>
            <a:ext cx="598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 b="1">
                <a:solidFill>
                  <a:srgbClr val="FF9900"/>
                </a:solidFill>
              </a:rPr>
              <a:t>1</a:t>
            </a:r>
            <a:endParaRPr>
              <a:solidFill>
                <a:srgbClr val="FF9900"/>
              </a:solidFill>
            </a:endParaRPr>
          </a:p>
        </p:txBody>
      </p:sp>
      <p:sp>
        <p:nvSpPr>
          <p:cNvPr id="156" name="Google Shape;156;p23"/>
          <p:cNvSpPr txBox="1"/>
          <p:nvPr/>
        </p:nvSpPr>
        <p:spPr>
          <a:xfrm>
            <a:off x="356425" y="1799300"/>
            <a:ext cx="598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 b="1">
                <a:solidFill>
                  <a:srgbClr val="FF9900"/>
                </a:solidFill>
              </a:rPr>
              <a:t>2</a:t>
            </a:r>
            <a:endParaRPr>
              <a:solidFill>
                <a:srgbClr val="FF9900"/>
              </a:solidFill>
            </a:endParaRPr>
          </a:p>
        </p:txBody>
      </p:sp>
      <p:sp>
        <p:nvSpPr>
          <p:cNvPr id="157" name="Google Shape;157;p23"/>
          <p:cNvSpPr txBox="1"/>
          <p:nvPr/>
        </p:nvSpPr>
        <p:spPr>
          <a:xfrm>
            <a:off x="5652850" y="1174350"/>
            <a:ext cx="598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 b="1">
                <a:solidFill>
                  <a:srgbClr val="FF9900"/>
                </a:solidFill>
              </a:rPr>
              <a:t>3</a:t>
            </a:r>
            <a:endParaRPr>
              <a:solidFill>
                <a:srgbClr val="FF9900"/>
              </a:solidFill>
            </a:endParaRPr>
          </a:p>
        </p:txBody>
      </p:sp>
    </p:spTree>
  </p:cSld>
  <p:clrMapOvr>
    <a:masterClrMapping/>
  </p:clrMapOvr>
  <p:transition spd="med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5425" y="782200"/>
            <a:ext cx="7153152" cy="4170326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4"/>
          <p:cNvSpPr txBox="1">
            <a:spLocks noGrp="1"/>
          </p:cNvSpPr>
          <p:nvPr>
            <p:ph type="title"/>
          </p:nvPr>
        </p:nvSpPr>
        <p:spPr>
          <a:xfrm>
            <a:off x="685800" y="171450"/>
            <a:ext cx="7772400" cy="5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zh-TW"/>
              <a:t>開啟 </a:t>
            </a: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Qt Designer </a:t>
            </a:r>
            <a:r>
              <a:rPr lang="zh-TW"/>
              <a:t>編輯 </a:t>
            </a:r>
            <a:endParaRPr/>
          </a:p>
        </p:txBody>
      </p:sp>
      <p:sp>
        <p:nvSpPr>
          <p:cNvPr id="164" name="Google Shape;164;p24"/>
          <p:cNvSpPr/>
          <p:nvPr/>
        </p:nvSpPr>
        <p:spPr>
          <a:xfrm>
            <a:off x="2750075" y="2200375"/>
            <a:ext cx="993000" cy="1296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24"/>
          <p:cNvSpPr/>
          <p:nvPr/>
        </p:nvSpPr>
        <p:spPr>
          <a:xfrm>
            <a:off x="3386675" y="4012225"/>
            <a:ext cx="471000" cy="1824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24"/>
          <p:cNvSpPr txBox="1"/>
          <p:nvPr/>
        </p:nvSpPr>
        <p:spPr>
          <a:xfrm>
            <a:off x="2578675" y="1737450"/>
            <a:ext cx="598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 b="1">
                <a:solidFill>
                  <a:srgbClr val="FF9900"/>
                </a:solidFill>
              </a:rPr>
              <a:t>1</a:t>
            </a:r>
            <a:endParaRPr>
              <a:solidFill>
                <a:srgbClr val="FF9900"/>
              </a:solidFill>
            </a:endParaRPr>
          </a:p>
        </p:txBody>
      </p:sp>
      <p:sp>
        <p:nvSpPr>
          <p:cNvPr id="167" name="Google Shape;167;p24"/>
          <p:cNvSpPr txBox="1"/>
          <p:nvPr/>
        </p:nvSpPr>
        <p:spPr>
          <a:xfrm>
            <a:off x="3258875" y="3606975"/>
            <a:ext cx="598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 b="1">
                <a:solidFill>
                  <a:srgbClr val="FF9900"/>
                </a:solidFill>
              </a:rPr>
              <a:t>2</a:t>
            </a:r>
            <a:endParaRPr>
              <a:solidFill>
                <a:srgbClr val="FF9900"/>
              </a:solidFill>
            </a:endParaRPr>
          </a:p>
        </p:txBody>
      </p:sp>
    </p:spTree>
  </p:cSld>
  <p:clrMapOvr>
    <a:masterClrMapping/>
  </p:clrMapOvr>
  <p:transition spd="med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5"/>
          <p:cNvSpPr txBox="1">
            <a:spLocks noGrp="1"/>
          </p:cNvSpPr>
          <p:nvPr>
            <p:ph type="title"/>
          </p:nvPr>
        </p:nvSpPr>
        <p:spPr>
          <a:xfrm>
            <a:off x="685800" y="171450"/>
            <a:ext cx="7772400" cy="5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zh-TW"/>
              <a:t>開啟 </a:t>
            </a: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Qt Designer </a:t>
            </a:r>
            <a:r>
              <a:rPr lang="zh-TW"/>
              <a:t>編輯 </a:t>
            </a:r>
            <a:endParaRPr/>
          </a:p>
        </p:txBody>
      </p:sp>
      <p:sp>
        <p:nvSpPr>
          <p:cNvPr id="174" name="Google Shape;174;p25"/>
          <p:cNvSpPr/>
          <p:nvPr/>
        </p:nvSpPr>
        <p:spPr>
          <a:xfrm>
            <a:off x="5189300" y="2113400"/>
            <a:ext cx="763800" cy="356400"/>
          </a:xfrm>
          <a:prstGeom prst="ellipse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25"/>
          <p:cNvSpPr/>
          <p:nvPr/>
        </p:nvSpPr>
        <p:spPr>
          <a:xfrm>
            <a:off x="5189300" y="2813625"/>
            <a:ext cx="763800" cy="356400"/>
          </a:xfrm>
          <a:prstGeom prst="ellipse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25"/>
          <p:cNvSpPr/>
          <p:nvPr/>
        </p:nvSpPr>
        <p:spPr>
          <a:xfrm>
            <a:off x="5074700" y="3221025"/>
            <a:ext cx="763800" cy="356400"/>
          </a:xfrm>
          <a:prstGeom prst="ellipse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77" name="Google Shape;177;p25"/>
          <p:cNvCxnSpPr>
            <a:stCxn id="178" idx="3"/>
            <a:endCxn id="174" idx="2"/>
          </p:cNvCxnSpPr>
          <p:nvPr/>
        </p:nvCxnSpPr>
        <p:spPr>
          <a:xfrm>
            <a:off x="2966450" y="2111693"/>
            <a:ext cx="2222850" cy="179907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9" name="Google Shape;179;p25"/>
          <p:cNvCxnSpPr>
            <a:stCxn id="178" idx="3"/>
            <a:endCxn id="175" idx="2"/>
          </p:cNvCxnSpPr>
          <p:nvPr/>
        </p:nvCxnSpPr>
        <p:spPr>
          <a:xfrm>
            <a:off x="2966450" y="2111693"/>
            <a:ext cx="2222850" cy="88013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0" name="Google Shape;180;p25"/>
          <p:cNvCxnSpPr>
            <a:stCxn id="178" idx="3"/>
            <a:endCxn id="176" idx="2"/>
          </p:cNvCxnSpPr>
          <p:nvPr/>
        </p:nvCxnSpPr>
        <p:spPr>
          <a:xfrm>
            <a:off x="2966450" y="2111693"/>
            <a:ext cx="2108250" cy="128753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78" name="Google Shape;178;p25"/>
          <p:cNvSpPr txBox="1"/>
          <p:nvPr/>
        </p:nvSpPr>
        <p:spPr>
          <a:xfrm>
            <a:off x="63650" y="1550400"/>
            <a:ext cx="2902800" cy="11225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700"/>
              <a:buFont typeface="DFKai-SB"/>
              <a:buAutoNum type="arabicPeriod"/>
            </a:pPr>
            <a:r>
              <a:rPr lang="zh-TW" sz="1700" b="1" dirty="0">
                <a:solidFill>
                  <a:srgbClr val="0000FF"/>
                </a:solidFill>
                <a:latin typeface="DFKai-SB"/>
                <a:ea typeface="DFKai-SB"/>
                <a:cs typeface="DFKai-SB"/>
                <a:sym typeface="DFKai-SB"/>
              </a:rPr>
              <a:t>隨意拖幾個</a:t>
            </a:r>
            <a:r>
              <a:rPr lang="zh-TW" sz="1800" b="1" dirty="0">
                <a:solidFill>
                  <a:srgbClr val="0000FF"/>
                </a:solidFill>
                <a:latin typeface="DFKai-SB"/>
                <a:ea typeface="DFKai-SB"/>
                <a:cs typeface="DFKai-SB"/>
                <a:sym typeface="DFKai-SB"/>
              </a:rPr>
              <a:t>物件</a:t>
            </a:r>
            <a:endParaRPr sz="1800" b="1" dirty="0">
              <a:solidFill>
                <a:srgbClr val="0000FF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700"/>
              <a:buFont typeface="DFKai-SB"/>
              <a:buAutoNum type="arabicPeriod"/>
            </a:pPr>
            <a:r>
              <a:rPr lang="zh-TW" sz="1800" b="1" dirty="0">
                <a:solidFill>
                  <a:srgbClr val="0000FF"/>
                </a:solidFill>
                <a:latin typeface="DFKai-SB"/>
                <a:ea typeface="DFKai-SB"/>
                <a:cs typeface="DFKai-SB"/>
                <a:sym typeface="DFKai-SB"/>
              </a:rPr>
              <a:t>儲存檔案</a:t>
            </a:r>
            <a:r>
              <a:rPr lang="zh-TW" sz="1800" b="1" dirty="0" smtClean="0">
                <a:solidFill>
                  <a:srgbClr val="0000FF"/>
                </a:solidFill>
                <a:latin typeface="DFKai-SB"/>
                <a:ea typeface="DFKai-SB"/>
                <a:cs typeface="DFKai-SB"/>
                <a:sym typeface="DFKai-SB"/>
              </a:rPr>
              <a:t>成</a:t>
            </a:r>
            <a:r>
              <a:rPr lang="en-US" altLang="zh-TW" sz="1700" b="1" dirty="0" err="1" smtClean="0">
                <a:solidFill>
                  <a:srgbClr val="0000FF"/>
                </a:solidFill>
                <a:latin typeface="DFKai-SB"/>
                <a:ea typeface="DFKai-SB"/>
                <a:cs typeface="DFKai-SB"/>
                <a:sym typeface="DFKai-SB"/>
              </a:rPr>
              <a:t>HW0524_GUI</a:t>
            </a:r>
            <a:r>
              <a:rPr lang="zh-TW" sz="1700" b="1" dirty="0" smtClean="0">
                <a:solidFill>
                  <a:srgbClr val="0000FF"/>
                </a:solidFill>
                <a:latin typeface="DFKai-SB"/>
                <a:ea typeface="DFKai-SB"/>
                <a:cs typeface="DFKai-SB"/>
                <a:sym typeface="DFKai-SB"/>
              </a:rPr>
              <a:t>.ui </a:t>
            </a:r>
            <a:endParaRPr sz="1700" b="1" dirty="0">
              <a:solidFill>
                <a:srgbClr val="0000FF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 rotWithShape="1">
          <a:blip r:embed="rId3"/>
          <a:srcRect l="13438" t="7307" r="41666" b="28654"/>
          <a:stretch/>
        </p:blipFill>
        <p:spPr>
          <a:xfrm>
            <a:off x="2369820" y="902608"/>
            <a:ext cx="6423660" cy="4178284"/>
          </a:xfrm>
          <a:prstGeom prst="rect">
            <a:avLst/>
          </a:prstGeom>
        </p:spPr>
      </p:pic>
    </p:spTree>
  </p:cSld>
  <p:clrMapOvr>
    <a:masterClrMapping/>
  </p:clrMapOvr>
  <p:transition spd="med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4013" y="543484"/>
            <a:ext cx="5028247" cy="4301041"/>
          </a:xfrm>
          <a:prstGeom prst="rect">
            <a:avLst/>
          </a:prstGeom>
        </p:spPr>
      </p:pic>
      <p:sp>
        <p:nvSpPr>
          <p:cNvPr id="186" name="Google Shape;186;p26"/>
          <p:cNvSpPr txBox="1">
            <a:spLocks noGrp="1"/>
          </p:cNvSpPr>
          <p:nvPr>
            <p:ph type="title"/>
          </p:nvPr>
        </p:nvSpPr>
        <p:spPr>
          <a:xfrm>
            <a:off x="144780" y="16152"/>
            <a:ext cx="7772400" cy="5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zh-TW"/>
              <a:t>將 </a:t>
            </a: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.ui </a:t>
            </a:r>
            <a:r>
              <a:rPr lang="zh-TW"/>
              <a:t>檔轉化成 </a:t>
            </a: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.py</a:t>
            </a:r>
            <a:r>
              <a:rPr lang="zh-TW"/>
              <a:t> </a:t>
            </a:r>
            <a:endParaRPr/>
          </a:p>
        </p:txBody>
      </p:sp>
      <p:sp>
        <p:nvSpPr>
          <p:cNvPr id="187" name="Google Shape;187;p26"/>
          <p:cNvSpPr/>
          <p:nvPr/>
        </p:nvSpPr>
        <p:spPr>
          <a:xfrm>
            <a:off x="2201800" y="2175524"/>
            <a:ext cx="1013840" cy="20191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26"/>
          <p:cNvSpPr/>
          <p:nvPr/>
        </p:nvSpPr>
        <p:spPr>
          <a:xfrm>
            <a:off x="3448950" y="4549140"/>
            <a:ext cx="2246100" cy="22941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26"/>
          <p:cNvSpPr txBox="1"/>
          <p:nvPr/>
        </p:nvSpPr>
        <p:spPr>
          <a:xfrm>
            <a:off x="2127800" y="1716197"/>
            <a:ext cx="1291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 b="1" dirty="0">
                <a:solidFill>
                  <a:srgbClr val="FF9900"/>
                </a:solidFill>
              </a:rPr>
              <a:t>1 </a:t>
            </a:r>
            <a:r>
              <a:rPr lang="zh-TW" sz="2000" b="1" dirty="0">
                <a:solidFill>
                  <a:srgbClr val="FF9900"/>
                </a:solidFill>
                <a:latin typeface="DFKai-SB"/>
                <a:ea typeface="DFKai-SB"/>
                <a:cs typeface="DFKai-SB"/>
                <a:sym typeface="DFKai-SB"/>
              </a:rPr>
              <a:t>按右鍵</a:t>
            </a:r>
            <a:endParaRPr dirty="0">
              <a:solidFill>
                <a:srgbClr val="FF9900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190" name="Google Shape;190;p26"/>
          <p:cNvSpPr txBox="1"/>
          <p:nvPr/>
        </p:nvSpPr>
        <p:spPr>
          <a:xfrm>
            <a:off x="2800600" y="4441050"/>
            <a:ext cx="598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 b="1">
                <a:solidFill>
                  <a:srgbClr val="FF9900"/>
                </a:solidFill>
              </a:rPr>
              <a:t>2</a:t>
            </a:r>
            <a:endParaRPr>
              <a:solidFill>
                <a:srgbClr val="FF9900"/>
              </a:solidFill>
            </a:endParaRPr>
          </a:p>
        </p:txBody>
      </p:sp>
      <p:sp>
        <p:nvSpPr>
          <p:cNvPr id="191" name="Google Shape;191;p26"/>
          <p:cNvSpPr/>
          <p:nvPr/>
        </p:nvSpPr>
        <p:spPr>
          <a:xfrm>
            <a:off x="2201800" y="2527095"/>
            <a:ext cx="1013840" cy="222378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26"/>
          <p:cNvSpPr txBox="1"/>
          <p:nvPr/>
        </p:nvSpPr>
        <p:spPr>
          <a:xfrm>
            <a:off x="2127800" y="2749261"/>
            <a:ext cx="3244300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 b="1" dirty="0">
                <a:solidFill>
                  <a:srgbClr val="FF9900"/>
                </a:solidFill>
              </a:rPr>
              <a:t>3 </a:t>
            </a:r>
            <a:r>
              <a:rPr lang="zh-TW" sz="2000" b="1" dirty="0" smtClean="0">
                <a:solidFill>
                  <a:srgbClr val="FF9900"/>
                </a:solidFill>
                <a:latin typeface="DFKai-SB"/>
                <a:ea typeface="DFKai-SB"/>
                <a:cs typeface="DFKai-SB"/>
                <a:sym typeface="DFKai-SB"/>
              </a:rPr>
              <a:t>產生</a:t>
            </a:r>
            <a:r>
              <a:rPr lang="en-US" altLang="zh-TW" sz="2000" b="1" dirty="0" err="1" smtClean="0">
                <a:solidFill>
                  <a:srgbClr val="FF9900"/>
                </a:solidFill>
              </a:rPr>
              <a:t>Ui_HW0524_GUI</a:t>
            </a:r>
            <a:r>
              <a:rPr lang="zh-TW" sz="2000" b="1" dirty="0" smtClean="0">
                <a:solidFill>
                  <a:srgbClr val="FF9900"/>
                </a:solidFill>
              </a:rPr>
              <a:t>.py</a:t>
            </a:r>
            <a:endParaRPr dirty="0">
              <a:solidFill>
                <a:srgbClr val="FF9900"/>
              </a:solidFill>
            </a:endParaRPr>
          </a:p>
        </p:txBody>
      </p:sp>
    </p:spTree>
  </p:cSld>
  <p:clrMapOvr>
    <a:masterClrMapping/>
  </p:clrMapOvr>
  <p:transition spd="med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7"/>
          <p:cNvSpPr txBox="1">
            <a:spLocks noGrp="1"/>
          </p:cNvSpPr>
          <p:nvPr>
            <p:ph type="title"/>
          </p:nvPr>
        </p:nvSpPr>
        <p:spPr>
          <a:xfrm>
            <a:off x="685800" y="171450"/>
            <a:ext cx="7772400" cy="5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zh-TW"/>
              <a:t>執行 </a:t>
            </a: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.py </a:t>
            </a:r>
            <a:r>
              <a:rPr lang="zh-TW"/>
              <a:t>檔的畫面檔 </a:t>
            </a:r>
            <a:endParaRPr/>
          </a:p>
        </p:txBody>
      </p:sp>
      <p:sp>
        <p:nvSpPr>
          <p:cNvPr id="198" name="Google Shape;198;p27"/>
          <p:cNvSpPr txBox="1">
            <a:spLocks noGrp="1"/>
          </p:cNvSpPr>
          <p:nvPr>
            <p:ph type="body" idx="1"/>
          </p:nvPr>
        </p:nvSpPr>
        <p:spPr>
          <a:xfrm>
            <a:off x="993050" y="816150"/>
            <a:ext cx="79332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zh-TW" sz="1600" b="1" dirty="0">
                <a:solidFill>
                  <a:srgbClr val="FF0000"/>
                </a:solidFill>
              </a:rPr>
              <a:t>由於生成</a:t>
            </a:r>
            <a:r>
              <a:rPr lang="zh-TW" sz="1600" b="1" dirty="0" smtClean="0">
                <a:solidFill>
                  <a:srgbClr val="FF0000"/>
                </a:solidFill>
              </a:rPr>
              <a:t>的</a:t>
            </a:r>
            <a:r>
              <a:rPr lang="en-US" altLang="zh-TW" sz="1600" b="1" dirty="0" err="1" smtClean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Ui_HW0524_GUI.py</a:t>
            </a:r>
            <a:r>
              <a:rPr lang="en-US" altLang="zh-TW" sz="1600" b="1" dirty="0" smtClean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zh-TW" sz="1600" b="1" dirty="0" smtClean="0">
                <a:solidFill>
                  <a:srgbClr val="FF0000"/>
                </a:solidFill>
              </a:rPr>
              <a:t>只是</a:t>
            </a:r>
            <a:r>
              <a:rPr lang="zh-TW" sz="1600" b="1" dirty="0">
                <a:solidFill>
                  <a:srgbClr val="FF0000"/>
                </a:solidFill>
              </a:rPr>
              <a:t>一個</a:t>
            </a:r>
            <a:r>
              <a:rPr lang="zh-TW" sz="16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</a:t>
            </a:r>
            <a:r>
              <a:rPr lang="zh-TW" sz="1600" b="1" dirty="0">
                <a:solidFill>
                  <a:srgbClr val="FF0000"/>
                </a:solidFill>
              </a:rPr>
              <a:t>，所以必需建置</a:t>
            </a:r>
            <a:r>
              <a:rPr lang="zh-TW" sz="1600" b="1" dirty="0" smtClean="0">
                <a:solidFill>
                  <a:srgbClr val="FF0000"/>
                </a:solidFill>
              </a:rPr>
              <a:t>主程式</a:t>
            </a:r>
            <a:r>
              <a:rPr lang="zh-TW" altLang="en-US" sz="1600" b="1" dirty="0" smtClean="0">
                <a:solidFill>
                  <a:srgbClr val="FF0000"/>
                </a:solidFill>
              </a:rPr>
              <a:t>新檔案獨立</a:t>
            </a:r>
            <a:r>
              <a:rPr lang="zh-TW" sz="1600" b="1" dirty="0" smtClean="0">
                <a:solidFill>
                  <a:srgbClr val="FF0000"/>
                </a:solidFill>
              </a:rPr>
              <a:t>執行</a:t>
            </a:r>
            <a:endParaRPr sz="1600" b="1" dirty="0">
              <a:solidFill>
                <a:srgbClr val="FF0000"/>
              </a:solidFill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icrosoft JhengHei"/>
              <a:buNone/>
            </a:pPr>
            <a:endParaRPr sz="2000" b="1" dirty="0">
              <a:solidFill>
                <a:srgbClr val="FF0000"/>
              </a:solidFill>
            </a:endParaRPr>
          </a:p>
        </p:txBody>
      </p:sp>
      <p:sp>
        <p:nvSpPr>
          <p:cNvPr id="199" name="Google Shape;199;p27"/>
          <p:cNvSpPr txBox="1"/>
          <p:nvPr/>
        </p:nvSpPr>
        <p:spPr>
          <a:xfrm>
            <a:off x="89075" y="1652475"/>
            <a:ext cx="5512800" cy="31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dirty="0"/>
              <a:t>import sys</a:t>
            </a:r>
            <a:endParaRPr sz="1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dirty="0"/>
              <a:t>from PyQt5.QtWidgets import QApplication, QMainWindow</a:t>
            </a:r>
            <a:endParaRPr sz="1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  <a:p>
            <a:pPr lvl="0"/>
            <a:r>
              <a:rPr lang="zh-TW" sz="1600" dirty="0"/>
              <a:t>import </a:t>
            </a:r>
            <a:r>
              <a:rPr lang="en-US" altLang="zh-TW" sz="1600" b="1" dirty="0" err="1">
                <a:solidFill>
                  <a:srgbClr val="0000FF"/>
                </a:solidFill>
              </a:rPr>
              <a:t>Ui_HW0524_GUI</a:t>
            </a:r>
            <a:endParaRPr sz="1600" b="1" dirty="0">
              <a:solidFill>
                <a:srgbClr val="0000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dirty="0"/>
              <a:t>if __name__ == '__main__': </a:t>
            </a:r>
            <a:endParaRPr sz="1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dirty="0"/>
              <a:t>    app = QApplication(sys.argv) </a:t>
            </a:r>
            <a:endParaRPr sz="1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dirty="0"/>
              <a:t>    MainWindow = QMainWindow() </a:t>
            </a:r>
            <a:endParaRPr sz="1600" dirty="0"/>
          </a:p>
          <a:p>
            <a:pPr lvl="0"/>
            <a:r>
              <a:rPr lang="zh-TW" sz="1600" dirty="0"/>
              <a:t>    ui = </a:t>
            </a:r>
            <a:r>
              <a:rPr lang="en-US" altLang="zh-TW" sz="1600" b="1" dirty="0" err="1">
                <a:solidFill>
                  <a:srgbClr val="0000FF"/>
                </a:solidFill>
              </a:rPr>
              <a:t>Ui_HW0524_GUI</a:t>
            </a:r>
            <a:r>
              <a:rPr lang="zh-TW" sz="1600" dirty="0" smtClean="0"/>
              <a:t>.Ui</a:t>
            </a:r>
            <a:r>
              <a:rPr lang="zh-TW" sz="1600" dirty="0"/>
              <a:t>_MainWindow() </a:t>
            </a:r>
            <a:endParaRPr sz="1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dirty="0"/>
              <a:t>    ui.setupUi(MainWindow) </a:t>
            </a:r>
            <a:endParaRPr sz="1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dirty="0"/>
              <a:t>    MainWindow.show() </a:t>
            </a:r>
            <a:endParaRPr sz="1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dirty="0"/>
              <a:t>    sys.exit(app.exec_())</a:t>
            </a:r>
            <a:endParaRPr sz="1600" dirty="0"/>
          </a:p>
        </p:txBody>
      </p:sp>
      <p:sp>
        <p:nvSpPr>
          <p:cNvPr id="200" name="Google Shape;200;p27"/>
          <p:cNvSpPr/>
          <p:nvPr/>
        </p:nvSpPr>
        <p:spPr>
          <a:xfrm>
            <a:off x="369175" y="799212"/>
            <a:ext cx="536700" cy="52650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rgbClr val="9900FF"/>
          </a:solidFill>
          <a:ln w="19050" cap="flat" cmpd="sng">
            <a:solidFill>
              <a:srgbClr val="775F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27"/>
          <p:cNvSpPr/>
          <p:nvPr/>
        </p:nvSpPr>
        <p:spPr>
          <a:xfrm>
            <a:off x="993041" y="1232350"/>
            <a:ext cx="1400400" cy="514200"/>
          </a:xfrm>
          <a:prstGeom prst="bevel">
            <a:avLst>
              <a:gd name="adj" fmla="val 12500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 b="1">
                <a:solidFill>
                  <a:srgbClr val="0000FF"/>
                </a:solidFill>
              </a:rPr>
              <a:t>main.py</a:t>
            </a:r>
            <a:endParaRPr sz="2000"/>
          </a:p>
        </p:txBody>
      </p:sp>
    </p:spTree>
  </p:cSld>
  <p:clrMapOvr>
    <a:masterClrMapping/>
  </p:clrMapOvr>
  <p:transition spd="med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520" y="1455550"/>
            <a:ext cx="4297680" cy="2460307"/>
          </a:xfrm>
          <a:prstGeom prst="rect">
            <a:avLst/>
          </a:prstGeom>
        </p:spPr>
      </p:pic>
      <p:sp>
        <p:nvSpPr>
          <p:cNvPr id="206" name="Google Shape;206;p28"/>
          <p:cNvSpPr txBox="1">
            <a:spLocks noGrp="1"/>
          </p:cNvSpPr>
          <p:nvPr>
            <p:ph type="title"/>
          </p:nvPr>
        </p:nvSpPr>
        <p:spPr>
          <a:xfrm>
            <a:off x="685800" y="171450"/>
            <a:ext cx="7772400" cy="5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zh-TW"/>
              <a:t>執行 </a:t>
            </a: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.py </a:t>
            </a:r>
            <a:r>
              <a:rPr lang="zh-TW"/>
              <a:t>檔的畫面檔 </a:t>
            </a:r>
            <a:endParaRPr/>
          </a:p>
        </p:txBody>
      </p:sp>
      <p:sp>
        <p:nvSpPr>
          <p:cNvPr id="209" name="Google Shape;209;p28"/>
          <p:cNvSpPr/>
          <p:nvPr/>
        </p:nvSpPr>
        <p:spPr>
          <a:xfrm>
            <a:off x="4470038" y="2611450"/>
            <a:ext cx="411900" cy="573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28"/>
          <p:cNvSpPr/>
          <p:nvPr/>
        </p:nvSpPr>
        <p:spPr>
          <a:xfrm>
            <a:off x="4190251" y="1466150"/>
            <a:ext cx="190200" cy="1824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28"/>
          <p:cNvSpPr txBox="1"/>
          <p:nvPr/>
        </p:nvSpPr>
        <p:spPr>
          <a:xfrm>
            <a:off x="4030856" y="1041750"/>
            <a:ext cx="349595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 b="1" dirty="0">
                <a:solidFill>
                  <a:srgbClr val="FF9900"/>
                </a:solidFill>
              </a:rPr>
              <a:t>1 </a:t>
            </a:r>
            <a:endParaRPr dirty="0">
              <a:solidFill>
                <a:srgbClr val="FF9900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214" name="Google Shape;214;p28"/>
          <p:cNvSpPr txBox="1"/>
          <p:nvPr/>
        </p:nvSpPr>
        <p:spPr>
          <a:xfrm>
            <a:off x="5200963" y="685650"/>
            <a:ext cx="2915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2000" b="1" dirty="0" smtClean="0">
                <a:solidFill>
                  <a:srgbClr val="FF9900"/>
                </a:solidFill>
              </a:rPr>
              <a:t>2</a:t>
            </a:r>
            <a:r>
              <a:rPr lang="zh-TW" sz="2000" b="1" dirty="0" smtClean="0">
                <a:solidFill>
                  <a:srgbClr val="FF9900"/>
                </a:solidFill>
              </a:rPr>
              <a:t> </a:t>
            </a:r>
            <a:r>
              <a:rPr lang="zh-TW" sz="2000" b="1" dirty="0">
                <a:solidFill>
                  <a:srgbClr val="FF9900"/>
                </a:solidFill>
                <a:latin typeface="DFKai-SB"/>
                <a:ea typeface="DFKai-SB"/>
                <a:cs typeface="DFKai-SB"/>
                <a:sym typeface="DFKai-SB"/>
              </a:rPr>
              <a:t>產生視窗畫面</a:t>
            </a:r>
            <a:endParaRPr dirty="0">
              <a:solidFill>
                <a:srgbClr val="FF9900"/>
              </a:solidFill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 rotWithShape="1">
          <a:blip r:embed="rId4"/>
          <a:srcRect r="44317"/>
          <a:stretch/>
        </p:blipFill>
        <p:spPr>
          <a:xfrm>
            <a:off x="4989980" y="1178250"/>
            <a:ext cx="3829440" cy="3858349"/>
          </a:xfrm>
          <a:prstGeom prst="rect">
            <a:avLst/>
          </a:prstGeom>
        </p:spPr>
      </p:pic>
    </p:spTree>
  </p:cSld>
  <p:clrMapOvr>
    <a:masterClrMapping/>
  </p:clrMapOvr>
  <p:transition spd="med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10760" y="264301"/>
            <a:ext cx="8520600" cy="707400"/>
          </a:xfrm>
        </p:spPr>
        <p:txBody>
          <a:bodyPr/>
          <a:lstStyle/>
          <a:p>
            <a:r>
              <a:rPr lang="zh-TW" altLang="en-US" dirty="0" smtClean="0"/>
              <a:t>把程式交易策略寫成類別</a:t>
            </a:r>
            <a:endParaRPr lang="zh-TW" altLang="en-US" dirty="0"/>
          </a:p>
        </p:txBody>
      </p:sp>
      <p:sp>
        <p:nvSpPr>
          <p:cNvPr id="3" name="矩形 2"/>
          <p:cNvSpPr/>
          <p:nvPr/>
        </p:nvSpPr>
        <p:spPr>
          <a:xfrm>
            <a:off x="1066800" y="1447800"/>
            <a:ext cx="3954780" cy="21259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文字方塊 16"/>
          <p:cNvSpPr txBox="1"/>
          <p:nvPr/>
        </p:nvSpPr>
        <p:spPr>
          <a:xfrm>
            <a:off x="533400" y="4061460"/>
            <a:ext cx="560922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 smtClean="0"/>
              <a:t>好處</a:t>
            </a:r>
            <a:endParaRPr lang="en-US" altLang="zh-TW" dirty="0" smtClean="0"/>
          </a:p>
          <a:p>
            <a:r>
              <a:rPr lang="en-US" altLang="zh-TW" dirty="0" err="1" smtClean="0"/>
              <a:t>ui</a:t>
            </a:r>
            <a:r>
              <a:rPr lang="zh-TW" altLang="en-US" dirty="0" smtClean="0"/>
              <a:t>介面有改變，不會重寫</a:t>
            </a:r>
            <a:r>
              <a:rPr lang="en-US" altLang="zh-TW" dirty="0" smtClean="0"/>
              <a:t>.</a:t>
            </a:r>
            <a:r>
              <a:rPr lang="en-US" altLang="zh-TW" dirty="0" err="1" smtClean="0"/>
              <a:t>py</a:t>
            </a:r>
            <a:r>
              <a:rPr lang="zh-TW" altLang="en-US" dirty="0" smtClean="0"/>
              <a:t>的程式</a:t>
            </a:r>
            <a:r>
              <a:rPr lang="en-US" altLang="zh-TW" dirty="0" smtClean="0"/>
              <a:t>, </a:t>
            </a:r>
            <a:r>
              <a:rPr lang="zh-TW" altLang="en-US" dirty="0" smtClean="0"/>
              <a:t>兩者互相獨立</a:t>
            </a:r>
            <a:r>
              <a:rPr lang="en-US" altLang="zh-TW" dirty="0" smtClean="0"/>
              <a:t>, </a:t>
            </a:r>
            <a:r>
              <a:rPr lang="zh-TW" altLang="en-US" dirty="0" smtClean="0"/>
              <a:t>程式的結構性增加</a:t>
            </a:r>
            <a:endParaRPr lang="en-US" altLang="zh-TW" dirty="0" smtClean="0"/>
          </a:p>
          <a:p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 rotWithShape="1">
          <a:blip r:embed="rId2"/>
          <a:srcRect l="17843" t="21980" r="14482" b="18502"/>
          <a:stretch/>
        </p:blipFill>
        <p:spPr>
          <a:xfrm>
            <a:off x="1570844" y="1759480"/>
            <a:ext cx="2946692" cy="1502619"/>
          </a:xfrm>
          <a:prstGeom prst="rect">
            <a:avLst/>
          </a:prstGeom>
        </p:spPr>
      </p:pic>
      <p:sp>
        <p:nvSpPr>
          <p:cNvPr id="6" name="文字方塊 5"/>
          <p:cNvSpPr txBox="1"/>
          <p:nvPr/>
        </p:nvSpPr>
        <p:spPr>
          <a:xfrm>
            <a:off x="2042160" y="1127541"/>
            <a:ext cx="18389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 smtClean="0"/>
              <a:t>MABolStrategy</a:t>
            </a:r>
            <a:r>
              <a:rPr lang="en-US" altLang="zh-TW" dirty="0" smtClean="0"/>
              <a:t> class</a:t>
            </a:r>
            <a:endParaRPr lang="zh-TW" altLang="en-US" dirty="0"/>
          </a:p>
        </p:txBody>
      </p:sp>
      <p:sp>
        <p:nvSpPr>
          <p:cNvPr id="7" name="橢圓 6"/>
          <p:cNvSpPr/>
          <p:nvPr/>
        </p:nvSpPr>
        <p:spPr>
          <a:xfrm>
            <a:off x="5433060" y="1834941"/>
            <a:ext cx="1493520" cy="67584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呼叫類別</a:t>
            </a:r>
            <a:endParaRPr lang="zh-TW" altLang="en-US" dirty="0"/>
          </a:p>
        </p:txBody>
      </p:sp>
      <p:sp>
        <p:nvSpPr>
          <p:cNvPr id="9" name="橢圓 8"/>
          <p:cNvSpPr/>
          <p:nvPr/>
        </p:nvSpPr>
        <p:spPr>
          <a:xfrm>
            <a:off x="7002780" y="2510789"/>
            <a:ext cx="1493520" cy="67584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產生物件實體</a:t>
            </a:r>
            <a:endParaRPr lang="zh-TW" altLang="en-US" dirty="0"/>
          </a:p>
        </p:txBody>
      </p:sp>
      <p:sp>
        <p:nvSpPr>
          <p:cNvPr id="10" name="橢圓 9"/>
          <p:cNvSpPr/>
          <p:nvPr/>
        </p:nvSpPr>
        <p:spPr>
          <a:xfrm>
            <a:off x="5433060" y="3186637"/>
            <a:ext cx="1493520" cy="67584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物件實體繼承類別的方法</a:t>
            </a:r>
            <a:endParaRPr lang="zh-TW" altLang="en-US" dirty="0"/>
          </a:p>
        </p:txBody>
      </p:sp>
      <p:cxnSp>
        <p:nvCxnSpPr>
          <p:cNvPr id="11" name="直線單箭頭接點 10"/>
          <p:cNvCxnSpPr>
            <a:stCxn id="7" idx="6"/>
          </p:cNvCxnSpPr>
          <p:nvPr/>
        </p:nvCxnSpPr>
        <p:spPr>
          <a:xfrm>
            <a:off x="6926580" y="2172865"/>
            <a:ext cx="662940" cy="3379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/>
          <p:cNvCxnSpPr/>
          <p:nvPr/>
        </p:nvCxnSpPr>
        <p:spPr>
          <a:xfrm flipH="1">
            <a:off x="6926580" y="3186637"/>
            <a:ext cx="662940" cy="1890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/>
          <p:cNvCxnSpPr>
            <a:endCxn id="7" idx="0"/>
          </p:cNvCxnSpPr>
          <p:nvPr/>
        </p:nvCxnSpPr>
        <p:spPr>
          <a:xfrm>
            <a:off x="5021580" y="1459381"/>
            <a:ext cx="1158240" cy="3755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418263"/>
      </p:ext>
    </p:extLst>
  </p:cSld>
  <p:clrMapOvr>
    <a:masterClrMapping/>
  </p:clrMapOvr>
</p:sld>
</file>

<file path=ppt/theme/theme1.xml><?xml version="1.0" encoding="utf-8"?>
<a:theme xmlns:a="http://schemas.openxmlformats.org/drawingml/2006/main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009668"/>
      </a:accent2>
      <a:accent3>
        <a:srgbClr val="4DB6AC"/>
      </a:accent3>
      <a:accent4>
        <a:srgbClr val="FF9800"/>
      </a:accent4>
      <a:accent5>
        <a:srgbClr val="CE93D8"/>
      </a:accent5>
      <a:accent6>
        <a:srgbClr val="EEFF41"/>
      </a:accent6>
      <a:hlink>
        <a:srgbClr val="CE93D8"/>
      </a:hlink>
      <a:folHlink>
        <a:srgbClr val="CE93D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433</Words>
  <Application>Microsoft Office PowerPoint</Application>
  <PresentationFormat>如螢幕大小 (16:9)</PresentationFormat>
  <Paragraphs>62</Paragraphs>
  <Slides>13</Slides>
  <Notes>11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21" baseType="lpstr">
      <vt:lpstr>新細明體</vt:lpstr>
      <vt:lpstr>PT Sans Narrow</vt:lpstr>
      <vt:lpstr>Times New Roman</vt:lpstr>
      <vt:lpstr>Arial</vt:lpstr>
      <vt:lpstr>DFKai-SB</vt:lpstr>
      <vt:lpstr>Microsoft JhengHei</vt:lpstr>
      <vt:lpstr>Open Sans</vt:lpstr>
      <vt:lpstr>Tropic</vt:lpstr>
      <vt:lpstr>Python 類別寫法補充</vt:lpstr>
      <vt:lpstr>.ui與.py檔案獨立</vt:lpstr>
      <vt:lpstr>PyQt</vt:lpstr>
      <vt:lpstr>PyQt 安裝</vt:lpstr>
      <vt:lpstr>VS Code 設定 PyQt 環境 </vt:lpstr>
      <vt:lpstr>VS Code 設定 PyQt 環境 </vt:lpstr>
      <vt:lpstr>開啟 Qt Designer 編輯 </vt:lpstr>
      <vt:lpstr>開啟 Qt Designer 編輯 </vt:lpstr>
      <vt:lpstr>開啟 Qt Designer 編輯 </vt:lpstr>
      <vt:lpstr>將 .ui 檔轉化成 .py </vt:lpstr>
      <vt:lpstr>執行 .py 檔的畫面檔 </vt:lpstr>
      <vt:lpstr>執行 .py 檔的畫面檔 </vt:lpstr>
      <vt:lpstr>把程式交易策略寫成類別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類別寫法補充</dc:title>
  <dc:creator>user</dc:creator>
  <cp:lastModifiedBy>nkust</cp:lastModifiedBy>
  <cp:revision>10</cp:revision>
  <dcterms:modified xsi:type="dcterms:W3CDTF">2021-05-30T13:57:12Z</dcterms:modified>
</cp:coreProperties>
</file>