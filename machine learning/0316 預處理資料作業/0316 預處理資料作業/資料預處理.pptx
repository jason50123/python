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3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B49DC3D-6EE4-4CBA-96E4-394BE3D2533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B4BCE14F-2903-4216-92F9-A17341C6136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F3D17F7-9ED7-4211-B240-18F5D90D70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DD2A2E-BEB6-4063-8B79-4E0FDFBCA360}" type="datetimeFigureOut">
              <a:rPr lang="zh-TW" altLang="en-US" smtClean="0"/>
              <a:t>2021/4/17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0FF80704-A1F3-4981-AD18-7FD2772B1D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8C60A7ED-D1C3-409C-84A1-04EC32EA9F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E2A86-25E7-4B7E-B0FC-8B1699680DA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091935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D525AFA-4937-4B27-A14F-075D516020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44BB090-B6C4-44C0-8143-7F65E5B8BD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D2C01E7D-961B-4D9D-8D05-0BEAE0BC54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DD2A2E-BEB6-4063-8B79-4E0FDFBCA360}" type="datetimeFigureOut">
              <a:rPr lang="zh-TW" altLang="en-US" smtClean="0"/>
              <a:t>2021/4/17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EECADA6-2918-43D1-9DC6-F344692869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9E6DF565-3939-4B49-B72A-82A158051C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E2A86-25E7-4B7E-B0FC-8B1699680DA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406431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4C8C901-C24B-4B4F-AF22-0123A9DC53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BF04E135-5519-4938-BB08-7A9DB93670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020DCDAC-91DD-4BFE-86B3-75CD2EC070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DD2A2E-BEB6-4063-8B79-4E0FDFBCA360}" type="datetimeFigureOut">
              <a:rPr lang="zh-TW" altLang="en-US" smtClean="0"/>
              <a:t>2021/4/17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10E148E9-280F-46EF-B3D9-9078A0F15D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CFC2902D-5AAF-4AE6-A3DF-44CAB84A14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E2A86-25E7-4B7E-B0FC-8B1699680DA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798412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39E1A94-1C3F-40C9-927F-CE25770116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C482141-E53A-4C27-BE68-B4FACE2388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2AE54931-9AC1-403A-819A-49150D3241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0E8FE6FD-985C-4460-91F2-83B919E4D9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DD2A2E-BEB6-4063-8B79-4E0FDFBCA360}" type="datetimeFigureOut">
              <a:rPr lang="zh-TW" altLang="en-US" smtClean="0"/>
              <a:t>2021/4/17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658890C5-4391-46FB-93B5-3D48F182A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6B4135E6-2D39-4ED4-98C0-F3FC7BC648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E2A86-25E7-4B7E-B0FC-8B1699680DA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552930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96E1513-EF5F-4A52-8D04-5A66EFC26A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25051F09-B542-4CBF-B63C-E55579C838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9D298586-8967-4738-94D2-ED0E8B9EE2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42A108DA-6193-4C22-8780-2379C02FBD9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123C674C-1A62-4886-B694-E1B0DE3BB91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C6ABB75B-5039-4711-87F9-5F1A981485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DD2A2E-BEB6-4063-8B79-4E0FDFBCA360}" type="datetimeFigureOut">
              <a:rPr lang="zh-TW" altLang="en-US" smtClean="0"/>
              <a:t>2021/4/17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431B9E78-3D55-43E0-8FA3-355E1D4C1A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CE28E91F-B729-4D53-ADF8-36293EEE2E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E2A86-25E7-4B7E-B0FC-8B1699680DA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412242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3546808-1FD8-4862-AAF2-A4FC812EBB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8639BEBC-E3D9-47D3-BCC0-F558C31321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DD2A2E-BEB6-4063-8B79-4E0FDFBCA360}" type="datetimeFigureOut">
              <a:rPr lang="zh-TW" altLang="en-US" smtClean="0"/>
              <a:t>2021/4/17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3629CF03-F66F-44A6-82C1-75324D457B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351A0C3B-9B9E-47AB-B216-7C1F3A36AE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E2A86-25E7-4B7E-B0FC-8B1699680DA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815783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7F64D1C6-8168-46D7-AD1C-6260935196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DD2A2E-BEB6-4063-8B79-4E0FDFBCA360}" type="datetimeFigureOut">
              <a:rPr lang="zh-TW" altLang="en-US" smtClean="0"/>
              <a:t>2021/4/17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6D0639E1-C70B-4C6D-A95E-BE38E95823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6D7BF71-2031-40CD-95DE-BBB1F9D315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E2A86-25E7-4B7E-B0FC-8B1699680DA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003196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7C5850C-2561-4905-BBC9-599E78B89D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CF1992A-E191-4FC7-A983-75D9BB713C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EA908D6B-2B52-4BE5-AFDC-4637A66582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C531990A-9DB3-45DD-8C51-B416389E3C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DD2A2E-BEB6-4063-8B79-4E0FDFBCA360}" type="datetimeFigureOut">
              <a:rPr lang="zh-TW" altLang="en-US" smtClean="0"/>
              <a:t>2021/4/17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79CFDEBD-58F0-4B12-9DF9-B4623CF714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A46E2CA9-0E2A-45D5-A870-DB077801F7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E2A86-25E7-4B7E-B0FC-8B1699680DA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84669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6EAAEAE-233F-4160-8EF9-BEA10652F1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20A13BD1-8538-4211-B687-F6BA3921E01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95B0C887-CB22-4CB6-9B36-D30274B76D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792D3ADB-3810-470C-9B85-B03A070DB4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DD2A2E-BEB6-4063-8B79-4E0FDFBCA360}" type="datetimeFigureOut">
              <a:rPr lang="zh-TW" altLang="en-US" smtClean="0"/>
              <a:t>2021/4/17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69FCAF86-C23E-4952-B121-4AF2EB2C07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483DAB14-6362-492A-A2CE-0968C5A20F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E2A86-25E7-4B7E-B0FC-8B1699680DA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589360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7C2D306-6AD9-46E5-8578-35CC8C09BD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BB4F0DC6-60C5-4B2D-8719-4E3BAB370E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AEA879EC-18DE-4CCF-B0F5-A5F334AF34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DD2A2E-BEB6-4063-8B79-4E0FDFBCA360}" type="datetimeFigureOut">
              <a:rPr lang="zh-TW" altLang="en-US" smtClean="0"/>
              <a:t>2021/4/17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C3E8BB47-4558-42BE-8266-EC3BC43A1A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4D737176-79B8-4022-A20F-EFA7F5D02E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E2A86-25E7-4B7E-B0FC-8B1699680DA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881473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E256915D-37F3-40E3-BA2B-FF7135929BF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2CC90AA1-65C9-4F04-BD23-46F96DBB42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9CEB02B2-2A4E-4025-9D50-44AD2887E7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DD2A2E-BEB6-4063-8B79-4E0FDFBCA360}" type="datetimeFigureOut">
              <a:rPr lang="zh-TW" altLang="en-US" smtClean="0"/>
              <a:t>2021/4/17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68EE8BE9-CC34-4577-A93C-FA735FC1B2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6D362BDE-531F-44E6-AB01-7FF2B5AB7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E2A86-25E7-4B7E-B0FC-8B1699680DA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294088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8A6809DF-1FB8-4D87-BCF6-9F2F1E9BAC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BDCCFA3B-D0AF-4065-8439-911BC5300E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3D9F175E-38C4-48C9-B302-8A61C4DE2C7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DD2A2E-BEB6-4063-8B79-4E0FDFBCA360}" type="datetimeFigureOut">
              <a:rPr lang="zh-TW" altLang="en-US" smtClean="0"/>
              <a:t>2021/4/17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9841DDFA-8D83-44F7-BA9A-3E8B15DC564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2AC14BD-0A1E-4167-AC81-F9309351F9C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AE2A86-25E7-4B7E-B0FC-8B1699680DA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769667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mp"/><Relationship Id="rId2" Type="http://schemas.openxmlformats.org/officeDocument/2006/relationships/image" Target="../media/image1.tmp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tmp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tmp"/><Relationship Id="rId2" Type="http://schemas.openxmlformats.org/officeDocument/2006/relationships/image" Target="../media/image4.tmp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tmp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tmp"/><Relationship Id="rId2" Type="http://schemas.openxmlformats.org/officeDocument/2006/relationships/image" Target="../media/image7.tmp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tm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D60040F0-6423-4402-94AD-F535D5A0A7C9}"/>
              </a:ext>
            </a:extLst>
          </p:cNvPr>
          <p:cNvSpPr txBox="1"/>
          <p:nvPr/>
        </p:nvSpPr>
        <p:spPr>
          <a:xfrm>
            <a:off x="243803" y="498282"/>
            <a:ext cx="30861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4400" b="1" dirty="0">
                <a:latin typeface="Adobe 黑体 Std R" panose="020B0400000000000000" pitchFamily="34" charset="-128"/>
                <a:ea typeface="Adobe 黑体 Std R" panose="020B0400000000000000" pitchFamily="34" charset="-128"/>
              </a:rPr>
              <a:t>資料預處理</a:t>
            </a:r>
          </a:p>
        </p:txBody>
      </p:sp>
      <p:cxnSp>
        <p:nvCxnSpPr>
          <p:cNvPr id="6" name="直線接點 5">
            <a:extLst>
              <a:ext uri="{FF2B5EF4-FFF2-40B4-BE49-F238E27FC236}">
                <a16:creationId xmlns:a16="http://schemas.microsoft.com/office/drawing/2014/main" id="{1409C251-ECF1-4ABC-8995-5B30CCC18B4D}"/>
              </a:ext>
            </a:extLst>
          </p:cNvPr>
          <p:cNvCxnSpPr/>
          <p:nvPr/>
        </p:nvCxnSpPr>
        <p:spPr>
          <a:xfrm>
            <a:off x="4152122" y="1502229"/>
            <a:ext cx="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線接點 7">
            <a:extLst>
              <a:ext uri="{FF2B5EF4-FFF2-40B4-BE49-F238E27FC236}">
                <a16:creationId xmlns:a16="http://schemas.microsoft.com/office/drawing/2014/main" id="{2DD2967B-5F7D-4390-8628-DC247E46841B}"/>
              </a:ext>
            </a:extLst>
          </p:cNvPr>
          <p:cNvCxnSpPr>
            <a:cxnSpLocks/>
          </p:cNvCxnSpPr>
          <p:nvPr/>
        </p:nvCxnSpPr>
        <p:spPr>
          <a:xfrm>
            <a:off x="310392" y="1267723"/>
            <a:ext cx="2952925" cy="0"/>
          </a:xfrm>
          <a:prstGeom prst="line">
            <a:avLst/>
          </a:prstGeom>
          <a:ln w="762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字方塊 9">
            <a:extLst>
              <a:ext uri="{FF2B5EF4-FFF2-40B4-BE49-F238E27FC236}">
                <a16:creationId xmlns:a16="http://schemas.microsoft.com/office/drawing/2014/main" id="{94789264-EBEF-43F0-A582-98BCC4505573}"/>
              </a:ext>
            </a:extLst>
          </p:cNvPr>
          <p:cNvSpPr txBox="1"/>
          <p:nvPr/>
        </p:nvSpPr>
        <p:spPr>
          <a:xfrm>
            <a:off x="243802" y="1798626"/>
            <a:ext cx="437171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b="1" dirty="0">
                <a:latin typeface="Adobe 黑体 Std R" panose="020B0400000000000000" pitchFamily="34" charset="-128"/>
                <a:ea typeface="Adobe 黑体 Std R" panose="020B0400000000000000" pitchFamily="34" charset="-128"/>
              </a:rPr>
              <a:t>Step1 </a:t>
            </a:r>
            <a:r>
              <a:rPr lang="zh-TW" altLang="en-US" sz="3200" b="1" dirty="0">
                <a:latin typeface="Adobe 黑体 Std R" panose="020B0400000000000000" pitchFamily="34" charset="-128"/>
                <a:ea typeface="Adobe 黑体 Std R" panose="020B0400000000000000" pitchFamily="34" charset="-128"/>
              </a:rPr>
              <a:t>空值補上平均數</a:t>
            </a:r>
          </a:p>
        </p:txBody>
      </p:sp>
      <p:pic>
        <p:nvPicPr>
          <p:cNvPr id="3" name="圖片 2" descr="一張含有 文字 的圖片&#10;&#10;自動產生的描述">
            <a:extLst>
              <a:ext uri="{FF2B5EF4-FFF2-40B4-BE49-F238E27FC236}">
                <a16:creationId xmlns:a16="http://schemas.microsoft.com/office/drawing/2014/main" id="{FD85EA21-320F-4110-8CC6-23D186D025B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802" y="2559913"/>
            <a:ext cx="4782217" cy="3248478"/>
          </a:xfrm>
          <a:prstGeom prst="rect">
            <a:avLst/>
          </a:prstGeom>
        </p:spPr>
      </p:pic>
      <p:pic>
        <p:nvPicPr>
          <p:cNvPr id="9" name="圖片 8" descr="一張含有 桌 的圖片&#10;&#10;自動產生的描述">
            <a:extLst>
              <a:ext uri="{FF2B5EF4-FFF2-40B4-BE49-F238E27FC236}">
                <a16:creationId xmlns:a16="http://schemas.microsoft.com/office/drawing/2014/main" id="{37568F51-81FE-45A1-939C-42B42F12A8F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682487"/>
            <a:ext cx="5210902" cy="2600688"/>
          </a:xfrm>
          <a:prstGeom prst="rect">
            <a:avLst/>
          </a:prstGeom>
        </p:spPr>
      </p:pic>
      <p:pic>
        <p:nvPicPr>
          <p:cNvPr id="12" name="圖片 11" descr="一張含有 桌 的圖片&#10;&#10;自動產生的描述">
            <a:extLst>
              <a:ext uri="{FF2B5EF4-FFF2-40B4-BE49-F238E27FC236}">
                <a16:creationId xmlns:a16="http://schemas.microsoft.com/office/drawing/2014/main" id="{BB444F59-D401-4C58-B3AE-8DF7A476796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4268589"/>
            <a:ext cx="5094914" cy="1992808"/>
          </a:xfrm>
          <a:prstGeom prst="rect">
            <a:avLst/>
          </a:prstGeom>
        </p:spPr>
      </p:pic>
      <p:sp>
        <p:nvSpPr>
          <p:cNvPr id="24" name="文字方塊 23">
            <a:extLst>
              <a:ext uri="{FF2B5EF4-FFF2-40B4-BE49-F238E27FC236}">
                <a16:creationId xmlns:a16="http://schemas.microsoft.com/office/drawing/2014/main" id="{C22E6604-88C5-4079-BE56-9F80851EF9D6}"/>
              </a:ext>
            </a:extLst>
          </p:cNvPr>
          <p:cNvSpPr txBox="1"/>
          <p:nvPr/>
        </p:nvSpPr>
        <p:spPr>
          <a:xfrm>
            <a:off x="10136253" y="3228945"/>
            <a:ext cx="119455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highlight>
                  <a:srgbClr val="FFFF00"/>
                </a:highlight>
                <a:latin typeface="Adobe 黑体 Std R" panose="020B0400000000000000" pitchFamily="34" charset="-128"/>
                <a:ea typeface="Adobe 黑体 Std R" panose="020B0400000000000000" pitchFamily="34" charset="-128"/>
              </a:rPr>
              <a:t>data.csv</a:t>
            </a:r>
            <a:endParaRPr lang="zh-TW" altLang="en-US" sz="2000" b="1" dirty="0">
              <a:highlight>
                <a:srgbClr val="FFFF00"/>
              </a:highlight>
              <a:latin typeface="Adobe 黑体 Std R" panose="020B0400000000000000" pitchFamily="34" charset="-128"/>
              <a:ea typeface="Adobe 黑体 Std R" panose="020B0400000000000000" pitchFamily="34" charset="-128"/>
            </a:endParaRPr>
          </a:p>
        </p:txBody>
      </p:sp>
      <p:sp>
        <p:nvSpPr>
          <p:cNvPr id="26" name="文字方塊 25">
            <a:extLst>
              <a:ext uri="{FF2B5EF4-FFF2-40B4-BE49-F238E27FC236}">
                <a16:creationId xmlns:a16="http://schemas.microsoft.com/office/drawing/2014/main" id="{EAC12A2A-EC82-4542-B508-7610EF64026E}"/>
              </a:ext>
            </a:extLst>
          </p:cNvPr>
          <p:cNvSpPr txBox="1"/>
          <p:nvPr/>
        </p:nvSpPr>
        <p:spPr>
          <a:xfrm>
            <a:off x="10161420" y="6277335"/>
            <a:ext cx="168026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highlight>
                  <a:srgbClr val="FFFF00"/>
                </a:highlight>
                <a:latin typeface="Adobe 黑体 Std R" panose="020B0400000000000000" pitchFamily="34" charset="-128"/>
                <a:ea typeface="Adobe 黑体 Std R" panose="020B0400000000000000" pitchFamily="34" charset="-128"/>
              </a:rPr>
              <a:t>newData.xls</a:t>
            </a:r>
            <a:endParaRPr lang="zh-TW" altLang="en-US" sz="2000" b="1" dirty="0">
              <a:highlight>
                <a:srgbClr val="FFFF00"/>
              </a:highlight>
              <a:latin typeface="Adobe 黑体 Std R" panose="020B0400000000000000" pitchFamily="34" charset="-128"/>
              <a:ea typeface="Adobe 黑体 Std R" panose="020B0400000000000000" pitchFamily="34" charset="-128"/>
            </a:endParaRPr>
          </a:p>
        </p:txBody>
      </p:sp>
      <p:cxnSp>
        <p:nvCxnSpPr>
          <p:cNvPr id="21" name="直線單箭頭接點 20">
            <a:extLst>
              <a:ext uri="{FF2B5EF4-FFF2-40B4-BE49-F238E27FC236}">
                <a16:creationId xmlns:a16="http://schemas.microsoft.com/office/drawing/2014/main" id="{7632C3AE-893C-44B3-B680-D269F3CD4F0D}"/>
              </a:ext>
            </a:extLst>
          </p:cNvPr>
          <p:cNvCxnSpPr/>
          <p:nvPr/>
        </p:nvCxnSpPr>
        <p:spPr>
          <a:xfrm>
            <a:off x="6610525" y="3429000"/>
            <a:ext cx="0" cy="656439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文字方塊 26">
            <a:extLst>
              <a:ext uri="{FF2B5EF4-FFF2-40B4-BE49-F238E27FC236}">
                <a16:creationId xmlns:a16="http://schemas.microsoft.com/office/drawing/2014/main" id="{256AC98F-ACA0-425A-BC58-AD6AD26CA63D}"/>
              </a:ext>
            </a:extLst>
          </p:cNvPr>
          <p:cNvSpPr txBox="1"/>
          <p:nvPr/>
        </p:nvSpPr>
        <p:spPr>
          <a:xfrm>
            <a:off x="6738712" y="3548712"/>
            <a:ext cx="71045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000" b="1" i="1" dirty="0">
                <a:solidFill>
                  <a:srgbClr val="FF0000"/>
                </a:solidFill>
                <a:latin typeface="Adobe 黑体 Std R" panose="020B0400000000000000" pitchFamily="34" charset="-128"/>
                <a:ea typeface="Adobe 黑体 Std R" panose="020B0400000000000000" pitchFamily="34" charset="-128"/>
              </a:rPr>
              <a:t>產生</a:t>
            </a:r>
          </a:p>
        </p:txBody>
      </p:sp>
      <p:sp>
        <p:nvSpPr>
          <p:cNvPr id="28" name="文字方塊 27">
            <a:extLst>
              <a:ext uri="{FF2B5EF4-FFF2-40B4-BE49-F238E27FC236}">
                <a16:creationId xmlns:a16="http://schemas.microsoft.com/office/drawing/2014/main" id="{E4F05204-1269-4BA2-8E2D-7D98125960C9}"/>
              </a:ext>
            </a:extLst>
          </p:cNvPr>
          <p:cNvSpPr txBox="1"/>
          <p:nvPr/>
        </p:nvSpPr>
        <p:spPr>
          <a:xfrm>
            <a:off x="4018233" y="5849565"/>
            <a:ext cx="120577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highlight>
                  <a:srgbClr val="FFFF00"/>
                </a:highlight>
                <a:latin typeface="Adobe 黑体 Std R" panose="020B0400000000000000" pitchFamily="34" charset="-128"/>
                <a:ea typeface="Adobe 黑体 Std R" panose="020B0400000000000000" pitchFamily="34" charset="-128"/>
              </a:rPr>
              <a:t>temp.py</a:t>
            </a:r>
            <a:endParaRPr lang="zh-TW" altLang="en-US" sz="2000" b="1" dirty="0">
              <a:highlight>
                <a:srgbClr val="FFFF00"/>
              </a:highlight>
              <a:latin typeface="Adobe 黑体 Std R" panose="020B0400000000000000" pitchFamily="34" charset="-128"/>
              <a:ea typeface="Adobe 黑体 Std R" panose="020B040000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6566539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D60040F0-6423-4402-94AD-F535D5A0A7C9}"/>
              </a:ext>
            </a:extLst>
          </p:cNvPr>
          <p:cNvSpPr txBox="1"/>
          <p:nvPr/>
        </p:nvSpPr>
        <p:spPr>
          <a:xfrm>
            <a:off x="243803" y="498282"/>
            <a:ext cx="30861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4400" b="1" dirty="0">
                <a:latin typeface="Adobe 黑体 Std R" panose="020B0400000000000000" pitchFamily="34" charset="-128"/>
                <a:ea typeface="Adobe 黑体 Std R" panose="020B0400000000000000" pitchFamily="34" charset="-128"/>
              </a:rPr>
              <a:t>資料預處理</a:t>
            </a:r>
          </a:p>
        </p:txBody>
      </p:sp>
      <p:cxnSp>
        <p:nvCxnSpPr>
          <p:cNvPr id="8" name="直線接點 7">
            <a:extLst>
              <a:ext uri="{FF2B5EF4-FFF2-40B4-BE49-F238E27FC236}">
                <a16:creationId xmlns:a16="http://schemas.microsoft.com/office/drawing/2014/main" id="{2DD2967B-5F7D-4390-8628-DC247E46841B}"/>
              </a:ext>
            </a:extLst>
          </p:cNvPr>
          <p:cNvCxnSpPr>
            <a:cxnSpLocks/>
          </p:cNvCxnSpPr>
          <p:nvPr/>
        </p:nvCxnSpPr>
        <p:spPr>
          <a:xfrm>
            <a:off x="310392" y="1267723"/>
            <a:ext cx="2952925" cy="0"/>
          </a:xfrm>
          <a:prstGeom prst="line">
            <a:avLst/>
          </a:prstGeom>
          <a:ln w="762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6E42921E-BB4D-4D38-91AA-68001D6669BE}"/>
              </a:ext>
            </a:extLst>
          </p:cNvPr>
          <p:cNvSpPr txBox="1"/>
          <p:nvPr/>
        </p:nvSpPr>
        <p:spPr>
          <a:xfrm>
            <a:off x="310392" y="1811888"/>
            <a:ext cx="453521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b="1" dirty="0">
                <a:latin typeface="Adobe 黑体 Std R" panose="020B0400000000000000" pitchFamily="34" charset="-128"/>
                <a:ea typeface="Adobe 黑体 Std R" panose="020B0400000000000000" pitchFamily="34" charset="-128"/>
              </a:rPr>
              <a:t>Step2 </a:t>
            </a:r>
            <a:r>
              <a:rPr lang="zh-TW" altLang="en-US" sz="3200" b="1" dirty="0">
                <a:latin typeface="Adobe 黑体 Std R" panose="020B0400000000000000" pitchFamily="34" charset="-128"/>
                <a:ea typeface="Adobe 黑体 Std R" panose="020B0400000000000000" pitchFamily="34" charset="-128"/>
              </a:rPr>
              <a:t>分割測試</a:t>
            </a:r>
            <a:r>
              <a:rPr lang="en-US" altLang="zh-TW" sz="3200" b="1" dirty="0">
                <a:latin typeface="Adobe 黑体 Std R" panose="020B0400000000000000" pitchFamily="34" charset="-128"/>
                <a:ea typeface="Adobe 黑体 Std R" panose="020B0400000000000000" pitchFamily="34" charset="-128"/>
              </a:rPr>
              <a:t>/</a:t>
            </a:r>
            <a:r>
              <a:rPr lang="zh-TW" altLang="en-US" sz="3200" b="1" dirty="0">
                <a:latin typeface="Adobe 黑体 Std R" panose="020B0400000000000000" pitchFamily="34" charset="-128"/>
                <a:ea typeface="Adobe 黑体 Std R" panose="020B0400000000000000" pitchFamily="34" charset="-128"/>
              </a:rPr>
              <a:t>訓練集</a:t>
            </a:r>
          </a:p>
        </p:txBody>
      </p:sp>
      <p:pic>
        <p:nvPicPr>
          <p:cNvPr id="7" name="圖片 6" descr="一張含有 文字 的圖片&#10;&#10;自動產生的描述">
            <a:extLst>
              <a:ext uri="{FF2B5EF4-FFF2-40B4-BE49-F238E27FC236}">
                <a16:creationId xmlns:a16="http://schemas.microsoft.com/office/drawing/2014/main" id="{805A0CD8-EB31-4D56-835F-E817E0DAF22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0392" y="2777020"/>
            <a:ext cx="4544059" cy="1857634"/>
          </a:xfrm>
          <a:prstGeom prst="rect">
            <a:avLst/>
          </a:prstGeom>
        </p:spPr>
      </p:pic>
      <p:sp>
        <p:nvSpPr>
          <p:cNvPr id="18" name="文字方塊 17">
            <a:extLst>
              <a:ext uri="{FF2B5EF4-FFF2-40B4-BE49-F238E27FC236}">
                <a16:creationId xmlns:a16="http://schemas.microsoft.com/office/drawing/2014/main" id="{3048E7F2-745F-4F88-BA4C-B12D71F6C748}"/>
              </a:ext>
            </a:extLst>
          </p:cNvPr>
          <p:cNvSpPr txBox="1"/>
          <p:nvPr/>
        </p:nvSpPr>
        <p:spPr>
          <a:xfrm>
            <a:off x="3481337" y="4733829"/>
            <a:ext cx="150714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highlight>
                  <a:srgbClr val="FFFF00"/>
                </a:highlight>
                <a:latin typeface="Adobe 黑体 Std R" panose="020B0400000000000000" pitchFamily="34" charset="-128"/>
                <a:ea typeface="Adobe 黑体 Std R" panose="020B0400000000000000" pitchFamily="34" charset="-128"/>
              </a:rPr>
              <a:t>temp02.py</a:t>
            </a:r>
            <a:endParaRPr lang="zh-TW" altLang="en-US" sz="2000" b="1" dirty="0">
              <a:highlight>
                <a:srgbClr val="FFFF00"/>
              </a:highlight>
              <a:latin typeface="Adobe 黑体 Std R" panose="020B0400000000000000" pitchFamily="34" charset="-128"/>
              <a:ea typeface="Adobe 黑体 Std R" panose="020B0400000000000000" pitchFamily="34" charset="-128"/>
            </a:endParaRPr>
          </a:p>
        </p:txBody>
      </p:sp>
      <p:pic>
        <p:nvPicPr>
          <p:cNvPr id="11" name="圖片 10" descr="一張含有 桌 的圖片&#10;&#10;自動產生的描述">
            <a:extLst>
              <a:ext uri="{FF2B5EF4-FFF2-40B4-BE49-F238E27FC236}">
                <a16:creationId xmlns:a16="http://schemas.microsoft.com/office/drawing/2014/main" id="{A5B8CC6C-A49E-4E2B-B956-B96E674AECE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76996" y="2777020"/>
            <a:ext cx="5525271" cy="1000265"/>
          </a:xfrm>
          <a:prstGeom prst="rect">
            <a:avLst/>
          </a:prstGeom>
        </p:spPr>
      </p:pic>
      <p:sp>
        <p:nvSpPr>
          <p:cNvPr id="21" name="文字方塊 20">
            <a:extLst>
              <a:ext uri="{FF2B5EF4-FFF2-40B4-BE49-F238E27FC236}">
                <a16:creationId xmlns:a16="http://schemas.microsoft.com/office/drawing/2014/main" id="{85DE2873-1579-4EB9-AEAE-9D5434D5C8A6}"/>
              </a:ext>
            </a:extLst>
          </p:cNvPr>
          <p:cNvSpPr txBox="1"/>
          <p:nvPr/>
        </p:nvSpPr>
        <p:spPr>
          <a:xfrm>
            <a:off x="10012185" y="3777285"/>
            <a:ext cx="175560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highlight>
                  <a:srgbClr val="FFFF00"/>
                </a:highlight>
                <a:latin typeface="Adobe 黑体 Std R" panose="020B0400000000000000" pitchFamily="34" charset="-128"/>
                <a:ea typeface="Adobe 黑体 Std R" panose="020B0400000000000000" pitchFamily="34" charset="-128"/>
              </a:rPr>
              <a:t>test_data.xls</a:t>
            </a:r>
            <a:endParaRPr lang="zh-TW" altLang="en-US" sz="2000" b="1" dirty="0">
              <a:highlight>
                <a:srgbClr val="FFFF00"/>
              </a:highlight>
              <a:latin typeface="Adobe 黑体 Std R" panose="020B0400000000000000" pitchFamily="34" charset="-128"/>
              <a:ea typeface="Adobe 黑体 Std R" panose="020B0400000000000000" pitchFamily="34" charset="-128"/>
            </a:endParaRPr>
          </a:p>
        </p:txBody>
      </p:sp>
      <p:pic>
        <p:nvPicPr>
          <p:cNvPr id="13" name="圖片 12" descr="一張含有 桌 的圖片&#10;&#10;自動產生的描述">
            <a:extLst>
              <a:ext uri="{FF2B5EF4-FFF2-40B4-BE49-F238E27FC236}">
                <a16:creationId xmlns:a16="http://schemas.microsoft.com/office/drawing/2014/main" id="{3A9C62F8-ADFF-4812-BAA1-DD4FB9D2C33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76996" y="4323324"/>
            <a:ext cx="5544324" cy="1324160"/>
          </a:xfrm>
          <a:prstGeom prst="rect">
            <a:avLst/>
          </a:prstGeom>
        </p:spPr>
      </p:pic>
      <p:sp>
        <p:nvSpPr>
          <p:cNvPr id="24" name="文字方塊 23">
            <a:extLst>
              <a:ext uri="{FF2B5EF4-FFF2-40B4-BE49-F238E27FC236}">
                <a16:creationId xmlns:a16="http://schemas.microsoft.com/office/drawing/2014/main" id="{ACA4BF8E-DE26-46A9-AF53-73736287E431}"/>
              </a:ext>
            </a:extLst>
          </p:cNvPr>
          <p:cNvSpPr txBox="1"/>
          <p:nvPr/>
        </p:nvSpPr>
        <p:spPr>
          <a:xfrm>
            <a:off x="10012185" y="5726724"/>
            <a:ext cx="186942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highlight>
                  <a:srgbClr val="FFFF00"/>
                </a:highlight>
                <a:latin typeface="Adobe 黑体 Std R" panose="020B0400000000000000" pitchFamily="34" charset="-128"/>
                <a:ea typeface="Adobe 黑体 Std R" panose="020B0400000000000000" pitchFamily="34" charset="-128"/>
              </a:rPr>
              <a:t>train_data.xls</a:t>
            </a:r>
            <a:endParaRPr lang="zh-TW" altLang="en-US" sz="2000" b="1" dirty="0">
              <a:highlight>
                <a:srgbClr val="FFFF00"/>
              </a:highlight>
              <a:latin typeface="Adobe 黑体 Std R" panose="020B0400000000000000" pitchFamily="34" charset="-128"/>
              <a:ea typeface="Adobe 黑体 Std R" panose="020B0400000000000000" pitchFamily="34" charset="-128"/>
            </a:endParaRPr>
          </a:p>
        </p:txBody>
      </p:sp>
      <p:cxnSp>
        <p:nvCxnSpPr>
          <p:cNvPr id="26" name="直線單箭頭接點 25">
            <a:extLst>
              <a:ext uri="{FF2B5EF4-FFF2-40B4-BE49-F238E27FC236}">
                <a16:creationId xmlns:a16="http://schemas.microsoft.com/office/drawing/2014/main" id="{92948679-82DE-4C5A-934F-112D655E6950}"/>
              </a:ext>
            </a:extLst>
          </p:cNvPr>
          <p:cNvCxnSpPr/>
          <p:nvPr/>
        </p:nvCxnSpPr>
        <p:spPr>
          <a:xfrm>
            <a:off x="8650654" y="1857088"/>
            <a:ext cx="0" cy="656439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文字方塊 26">
            <a:extLst>
              <a:ext uri="{FF2B5EF4-FFF2-40B4-BE49-F238E27FC236}">
                <a16:creationId xmlns:a16="http://schemas.microsoft.com/office/drawing/2014/main" id="{3BFAF2E9-9158-4A75-92FF-EB5D32AE1579}"/>
              </a:ext>
            </a:extLst>
          </p:cNvPr>
          <p:cNvSpPr txBox="1"/>
          <p:nvPr/>
        </p:nvSpPr>
        <p:spPr>
          <a:xfrm>
            <a:off x="8778841" y="1976800"/>
            <a:ext cx="71045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000" b="1" i="1" dirty="0">
                <a:solidFill>
                  <a:srgbClr val="FF0000"/>
                </a:solidFill>
                <a:latin typeface="Adobe 黑体 Std R" panose="020B0400000000000000" pitchFamily="34" charset="-128"/>
                <a:ea typeface="Adobe 黑体 Std R" panose="020B0400000000000000" pitchFamily="34" charset="-128"/>
              </a:rPr>
              <a:t>產生</a:t>
            </a:r>
          </a:p>
        </p:txBody>
      </p:sp>
      <p:sp>
        <p:nvSpPr>
          <p:cNvPr id="28" name="文字方塊 27">
            <a:extLst>
              <a:ext uri="{FF2B5EF4-FFF2-40B4-BE49-F238E27FC236}">
                <a16:creationId xmlns:a16="http://schemas.microsoft.com/office/drawing/2014/main" id="{F303B8D8-EB7F-4C6C-AD2D-823E87FF3B5D}"/>
              </a:ext>
            </a:extLst>
          </p:cNvPr>
          <p:cNvSpPr txBox="1"/>
          <p:nvPr/>
        </p:nvSpPr>
        <p:spPr>
          <a:xfrm>
            <a:off x="7809024" y="1267723"/>
            <a:ext cx="168026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highlight>
                  <a:srgbClr val="FFFF00"/>
                </a:highlight>
                <a:latin typeface="Adobe 黑体 Std R" panose="020B0400000000000000" pitchFamily="34" charset="-128"/>
                <a:ea typeface="Adobe 黑体 Std R" panose="020B0400000000000000" pitchFamily="34" charset="-128"/>
              </a:rPr>
              <a:t>newData.xls</a:t>
            </a:r>
            <a:endParaRPr lang="zh-TW" altLang="en-US" sz="2000" b="1" dirty="0">
              <a:highlight>
                <a:srgbClr val="FFFF00"/>
              </a:highlight>
              <a:latin typeface="Adobe 黑体 Std R" panose="020B0400000000000000" pitchFamily="34" charset="-128"/>
              <a:ea typeface="Adobe 黑体 Std R" panose="020B040000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4567165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D60040F0-6423-4402-94AD-F535D5A0A7C9}"/>
              </a:ext>
            </a:extLst>
          </p:cNvPr>
          <p:cNvSpPr txBox="1"/>
          <p:nvPr/>
        </p:nvSpPr>
        <p:spPr>
          <a:xfrm>
            <a:off x="243803" y="498282"/>
            <a:ext cx="30861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4400" b="1" dirty="0">
                <a:latin typeface="Adobe 黑体 Std R" panose="020B0400000000000000" pitchFamily="34" charset="-128"/>
                <a:ea typeface="Adobe 黑体 Std R" panose="020B0400000000000000" pitchFamily="34" charset="-128"/>
              </a:rPr>
              <a:t>資料預處理</a:t>
            </a:r>
          </a:p>
        </p:txBody>
      </p:sp>
      <p:cxnSp>
        <p:nvCxnSpPr>
          <p:cNvPr id="8" name="直線接點 7">
            <a:extLst>
              <a:ext uri="{FF2B5EF4-FFF2-40B4-BE49-F238E27FC236}">
                <a16:creationId xmlns:a16="http://schemas.microsoft.com/office/drawing/2014/main" id="{2DD2967B-5F7D-4390-8628-DC247E46841B}"/>
              </a:ext>
            </a:extLst>
          </p:cNvPr>
          <p:cNvCxnSpPr>
            <a:cxnSpLocks/>
          </p:cNvCxnSpPr>
          <p:nvPr/>
        </p:nvCxnSpPr>
        <p:spPr>
          <a:xfrm>
            <a:off x="310392" y="1267723"/>
            <a:ext cx="2952925" cy="0"/>
          </a:xfrm>
          <a:prstGeom prst="line">
            <a:avLst/>
          </a:prstGeom>
          <a:ln w="762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638DC960-6C35-400A-A745-59D6E094D8D0}"/>
              </a:ext>
            </a:extLst>
          </p:cNvPr>
          <p:cNvSpPr txBox="1"/>
          <p:nvPr/>
        </p:nvSpPr>
        <p:spPr>
          <a:xfrm>
            <a:off x="310392" y="1578239"/>
            <a:ext cx="352853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b="1" dirty="0">
                <a:latin typeface="Adobe 黑体 Std R" panose="020B0400000000000000" pitchFamily="34" charset="-128"/>
                <a:ea typeface="Adobe 黑体 Std R" panose="020B0400000000000000" pitchFamily="34" charset="-128"/>
              </a:rPr>
              <a:t>Step3 </a:t>
            </a:r>
            <a:r>
              <a:rPr lang="zh-TW" altLang="en-US" sz="3200" b="1" dirty="0">
                <a:latin typeface="Adobe 黑体 Std R" panose="020B0400000000000000" pitchFamily="34" charset="-128"/>
                <a:ea typeface="Adobe 黑体 Std R" panose="020B0400000000000000" pitchFamily="34" charset="-128"/>
              </a:rPr>
              <a:t>資料標準化</a:t>
            </a:r>
          </a:p>
        </p:txBody>
      </p:sp>
      <p:pic>
        <p:nvPicPr>
          <p:cNvPr id="3" name="圖片 2" descr="一張含有 文字 的圖片&#10;&#10;自動產生的描述">
            <a:extLst>
              <a:ext uri="{FF2B5EF4-FFF2-40B4-BE49-F238E27FC236}">
                <a16:creationId xmlns:a16="http://schemas.microsoft.com/office/drawing/2014/main" id="{18374556-1555-45F6-A24C-DED0BD0B66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0392" y="2163014"/>
            <a:ext cx="4639322" cy="4486901"/>
          </a:xfrm>
          <a:prstGeom prst="rect">
            <a:avLst/>
          </a:prstGeom>
        </p:spPr>
      </p:pic>
      <p:sp>
        <p:nvSpPr>
          <p:cNvPr id="16" name="文字方塊 15">
            <a:extLst>
              <a:ext uri="{FF2B5EF4-FFF2-40B4-BE49-F238E27FC236}">
                <a16:creationId xmlns:a16="http://schemas.microsoft.com/office/drawing/2014/main" id="{AB2B9E11-6451-43BA-87F0-EC4EAE846F1D}"/>
              </a:ext>
            </a:extLst>
          </p:cNvPr>
          <p:cNvSpPr txBox="1"/>
          <p:nvPr/>
        </p:nvSpPr>
        <p:spPr>
          <a:xfrm>
            <a:off x="3749785" y="6249805"/>
            <a:ext cx="150714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highlight>
                  <a:srgbClr val="FFFF00"/>
                </a:highlight>
                <a:latin typeface="Adobe 黑体 Std R" panose="020B0400000000000000" pitchFamily="34" charset="-128"/>
                <a:ea typeface="Adobe 黑体 Std R" panose="020B0400000000000000" pitchFamily="34" charset="-128"/>
              </a:rPr>
              <a:t>temp03.py</a:t>
            </a:r>
            <a:endParaRPr lang="zh-TW" altLang="en-US" sz="2000" b="1" dirty="0">
              <a:highlight>
                <a:srgbClr val="FFFF00"/>
              </a:highlight>
              <a:latin typeface="Adobe 黑体 Std R" panose="020B0400000000000000" pitchFamily="34" charset="-128"/>
              <a:ea typeface="Adobe 黑体 Std R" panose="020B0400000000000000" pitchFamily="34" charset="-128"/>
            </a:endParaRPr>
          </a:p>
        </p:txBody>
      </p:sp>
      <p:pic>
        <p:nvPicPr>
          <p:cNvPr id="7" name="圖片 6" descr="一張含有 桌 的圖片&#10;&#10;自動產生的描述">
            <a:extLst>
              <a:ext uri="{FF2B5EF4-FFF2-40B4-BE49-F238E27FC236}">
                <a16:creationId xmlns:a16="http://schemas.microsoft.com/office/drawing/2014/main" id="{78D3F513-A9D7-40E5-8DFA-A228820FF33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40925" y="4619750"/>
            <a:ext cx="6125430" cy="1343212"/>
          </a:xfrm>
          <a:prstGeom prst="rect">
            <a:avLst/>
          </a:prstGeom>
        </p:spPr>
      </p:pic>
      <p:sp>
        <p:nvSpPr>
          <p:cNvPr id="21" name="文字方塊 20">
            <a:extLst>
              <a:ext uri="{FF2B5EF4-FFF2-40B4-BE49-F238E27FC236}">
                <a16:creationId xmlns:a16="http://schemas.microsoft.com/office/drawing/2014/main" id="{18E3839D-AC52-4DB9-B181-A7E2AE2877B5}"/>
              </a:ext>
            </a:extLst>
          </p:cNvPr>
          <p:cNvSpPr txBox="1"/>
          <p:nvPr/>
        </p:nvSpPr>
        <p:spPr>
          <a:xfrm>
            <a:off x="9919907" y="5816146"/>
            <a:ext cx="189827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highlight>
                  <a:srgbClr val="FFFF00"/>
                </a:highlight>
                <a:latin typeface="Adobe 黑体 Std R" panose="020B0400000000000000" pitchFamily="34" charset="-128"/>
                <a:ea typeface="Adobe 黑体 Std R" panose="020B0400000000000000" pitchFamily="34" charset="-128"/>
              </a:rPr>
              <a:t>standTrain.xls</a:t>
            </a:r>
            <a:endParaRPr lang="zh-TW" altLang="en-US" sz="2000" b="1" dirty="0">
              <a:highlight>
                <a:srgbClr val="FFFF00"/>
              </a:highlight>
              <a:latin typeface="Adobe 黑体 Std R" panose="020B0400000000000000" pitchFamily="34" charset="-128"/>
              <a:ea typeface="Adobe 黑体 Std R" panose="020B0400000000000000" pitchFamily="34" charset="-128"/>
            </a:endParaRPr>
          </a:p>
        </p:txBody>
      </p:sp>
      <p:pic>
        <p:nvPicPr>
          <p:cNvPr id="11" name="圖片 10" descr="一張含有 桌 的圖片&#10;&#10;自動產生的描述">
            <a:extLst>
              <a:ext uri="{FF2B5EF4-FFF2-40B4-BE49-F238E27FC236}">
                <a16:creationId xmlns:a16="http://schemas.microsoft.com/office/drawing/2014/main" id="{5D7F8CFB-44FD-42A3-A98A-A510A3CEC62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40925" y="3059393"/>
            <a:ext cx="6115904" cy="962159"/>
          </a:xfrm>
          <a:prstGeom prst="rect">
            <a:avLst/>
          </a:prstGeom>
        </p:spPr>
      </p:pic>
      <p:sp>
        <p:nvSpPr>
          <p:cNvPr id="24" name="文字方塊 23">
            <a:extLst>
              <a:ext uri="{FF2B5EF4-FFF2-40B4-BE49-F238E27FC236}">
                <a16:creationId xmlns:a16="http://schemas.microsoft.com/office/drawing/2014/main" id="{54880DC1-095D-444F-9259-C64A0B180227}"/>
              </a:ext>
            </a:extLst>
          </p:cNvPr>
          <p:cNvSpPr txBox="1"/>
          <p:nvPr/>
        </p:nvSpPr>
        <p:spPr>
          <a:xfrm>
            <a:off x="9919906" y="3920541"/>
            <a:ext cx="178446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highlight>
                  <a:srgbClr val="FFFF00"/>
                </a:highlight>
                <a:latin typeface="Adobe 黑体 Std R" panose="020B0400000000000000" pitchFamily="34" charset="-128"/>
                <a:ea typeface="Adobe 黑体 Std R" panose="020B0400000000000000" pitchFamily="34" charset="-128"/>
              </a:rPr>
              <a:t>standTest.xls</a:t>
            </a:r>
            <a:endParaRPr lang="zh-TW" altLang="en-US" sz="2000" b="1" dirty="0">
              <a:highlight>
                <a:srgbClr val="FFFF00"/>
              </a:highlight>
              <a:latin typeface="Adobe 黑体 Std R" panose="020B0400000000000000" pitchFamily="34" charset="-128"/>
              <a:ea typeface="Adobe 黑体 Std R" panose="020B0400000000000000" pitchFamily="34" charset="-128"/>
            </a:endParaRPr>
          </a:p>
        </p:txBody>
      </p:sp>
      <p:cxnSp>
        <p:nvCxnSpPr>
          <p:cNvPr id="26" name="直線單箭頭接點 25">
            <a:extLst>
              <a:ext uri="{FF2B5EF4-FFF2-40B4-BE49-F238E27FC236}">
                <a16:creationId xmlns:a16="http://schemas.microsoft.com/office/drawing/2014/main" id="{6847B882-2684-4741-A658-E47022A57B29}"/>
              </a:ext>
            </a:extLst>
          </p:cNvPr>
          <p:cNvCxnSpPr/>
          <p:nvPr/>
        </p:nvCxnSpPr>
        <p:spPr>
          <a:xfrm>
            <a:off x="8684210" y="2240472"/>
            <a:ext cx="0" cy="656439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文字方塊 26">
            <a:extLst>
              <a:ext uri="{FF2B5EF4-FFF2-40B4-BE49-F238E27FC236}">
                <a16:creationId xmlns:a16="http://schemas.microsoft.com/office/drawing/2014/main" id="{CD4FCC9C-2300-47CE-AED3-6F99AC5FC0EC}"/>
              </a:ext>
            </a:extLst>
          </p:cNvPr>
          <p:cNvSpPr txBox="1"/>
          <p:nvPr/>
        </p:nvSpPr>
        <p:spPr>
          <a:xfrm>
            <a:off x="8812397" y="2360184"/>
            <a:ext cx="71045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000" b="1" i="1" dirty="0">
                <a:solidFill>
                  <a:srgbClr val="FF0000"/>
                </a:solidFill>
                <a:latin typeface="Adobe 黑体 Std R" panose="020B0400000000000000" pitchFamily="34" charset="-128"/>
                <a:ea typeface="Adobe 黑体 Std R" panose="020B0400000000000000" pitchFamily="34" charset="-128"/>
              </a:rPr>
              <a:t>產生</a:t>
            </a:r>
          </a:p>
        </p:txBody>
      </p:sp>
      <p:grpSp>
        <p:nvGrpSpPr>
          <p:cNvPr id="13" name="群組 12">
            <a:extLst>
              <a:ext uri="{FF2B5EF4-FFF2-40B4-BE49-F238E27FC236}">
                <a16:creationId xmlns:a16="http://schemas.microsoft.com/office/drawing/2014/main" id="{505575CA-20EB-45B9-9703-D4B3D339CD96}"/>
              </a:ext>
            </a:extLst>
          </p:cNvPr>
          <p:cNvGrpSpPr/>
          <p:nvPr/>
        </p:nvGrpSpPr>
        <p:grpSpPr>
          <a:xfrm>
            <a:off x="7031210" y="1171894"/>
            <a:ext cx="3306000" cy="906096"/>
            <a:chOff x="6668254" y="1200794"/>
            <a:chExt cx="3306000" cy="906096"/>
          </a:xfrm>
        </p:grpSpPr>
        <p:sp>
          <p:nvSpPr>
            <p:cNvPr id="28" name="文字方塊 27">
              <a:extLst>
                <a:ext uri="{FF2B5EF4-FFF2-40B4-BE49-F238E27FC236}">
                  <a16:creationId xmlns:a16="http://schemas.microsoft.com/office/drawing/2014/main" id="{DDDE6C07-8B2A-46D9-A644-7EFC95FD06AE}"/>
                </a:ext>
              </a:extLst>
            </p:cNvPr>
            <p:cNvSpPr txBox="1"/>
            <p:nvPr/>
          </p:nvSpPr>
          <p:spPr>
            <a:xfrm>
              <a:off x="6668254" y="1512449"/>
              <a:ext cx="148902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TW" altLang="en-US" sz="2000" b="1" dirty="0">
                  <a:latin typeface="Adobe 黑体 Std R" panose="020B0400000000000000" pitchFamily="34" charset="-128"/>
                  <a:ea typeface="Adobe 黑体 Std R" panose="020B0400000000000000" pitchFamily="34" charset="-128"/>
                </a:rPr>
                <a:t>分別帶入</a:t>
              </a:r>
            </a:p>
          </p:txBody>
        </p:sp>
        <p:sp>
          <p:nvSpPr>
            <p:cNvPr id="29" name="文字方塊 28">
              <a:extLst>
                <a:ext uri="{FF2B5EF4-FFF2-40B4-BE49-F238E27FC236}">
                  <a16:creationId xmlns:a16="http://schemas.microsoft.com/office/drawing/2014/main" id="{31EEDC87-AACC-4513-9BF8-62C5C5AE7A71}"/>
                </a:ext>
              </a:extLst>
            </p:cNvPr>
            <p:cNvSpPr txBox="1"/>
            <p:nvPr/>
          </p:nvSpPr>
          <p:spPr>
            <a:xfrm>
              <a:off x="7986363" y="1706780"/>
              <a:ext cx="1933543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TW" altLang="en-US" sz="2000" b="1" dirty="0">
                  <a:highlight>
                    <a:srgbClr val="FFFF00"/>
                  </a:highlight>
                  <a:latin typeface="Adobe 黑体 Std R" panose="020B0400000000000000" pitchFamily="34" charset="-128"/>
                  <a:ea typeface="Adobe 黑体 Std R" panose="020B0400000000000000" pitchFamily="34" charset="-128"/>
                </a:rPr>
                <a:t> </a:t>
              </a:r>
              <a:r>
                <a:rPr lang="en-US" altLang="zh-TW" sz="2000" b="1" dirty="0">
                  <a:highlight>
                    <a:srgbClr val="FFFF00"/>
                  </a:highlight>
                  <a:latin typeface="Adobe 黑体 Std R" panose="020B0400000000000000" pitchFamily="34" charset="-128"/>
                  <a:ea typeface="Adobe 黑体 Std R" panose="020B0400000000000000" pitchFamily="34" charset="-128"/>
                </a:rPr>
                <a:t>train_data.xls</a:t>
              </a:r>
              <a:endParaRPr lang="zh-TW" altLang="en-US" sz="2000" b="1" dirty="0">
                <a:highlight>
                  <a:srgbClr val="FFFF00"/>
                </a:highlight>
                <a:latin typeface="Adobe 黑体 Std R" panose="020B0400000000000000" pitchFamily="34" charset="-128"/>
                <a:ea typeface="Adobe 黑体 Std R" panose="020B0400000000000000" pitchFamily="34" charset="-128"/>
              </a:endParaRPr>
            </a:p>
          </p:txBody>
        </p:sp>
        <p:sp>
          <p:nvSpPr>
            <p:cNvPr id="30" name="文字方塊 29">
              <a:extLst>
                <a:ext uri="{FF2B5EF4-FFF2-40B4-BE49-F238E27FC236}">
                  <a16:creationId xmlns:a16="http://schemas.microsoft.com/office/drawing/2014/main" id="{96089D18-C669-4883-9766-7C30895367A6}"/>
                </a:ext>
              </a:extLst>
            </p:cNvPr>
            <p:cNvSpPr txBox="1"/>
            <p:nvPr/>
          </p:nvSpPr>
          <p:spPr>
            <a:xfrm>
              <a:off x="9789523" y="1200794"/>
              <a:ext cx="184731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zh-TW" altLang="en-US" sz="2000" b="1" dirty="0">
                <a:highlight>
                  <a:srgbClr val="FFFF00"/>
                </a:highlight>
                <a:latin typeface="Adobe 黑体 Std R" panose="020B0400000000000000" pitchFamily="34" charset="-128"/>
                <a:ea typeface="Adobe 黑体 Std R" panose="020B0400000000000000" pitchFamily="34" charset="-128"/>
              </a:endParaRPr>
            </a:p>
          </p:txBody>
        </p:sp>
        <p:sp>
          <p:nvSpPr>
            <p:cNvPr id="31" name="文字方塊 30">
              <a:extLst>
                <a:ext uri="{FF2B5EF4-FFF2-40B4-BE49-F238E27FC236}">
                  <a16:creationId xmlns:a16="http://schemas.microsoft.com/office/drawing/2014/main" id="{2B3B2CD8-F765-4E47-9712-450D62F6B5ED}"/>
                </a:ext>
              </a:extLst>
            </p:cNvPr>
            <p:cNvSpPr txBox="1"/>
            <p:nvPr/>
          </p:nvSpPr>
          <p:spPr>
            <a:xfrm>
              <a:off x="8014045" y="1333714"/>
              <a:ext cx="1817943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TW" sz="2000" b="1" dirty="0">
                  <a:highlight>
                    <a:srgbClr val="FFFF00"/>
                  </a:highlight>
                  <a:latin typeface="Adobe 黑体 Std R" panose="020B0400000000000000" pitchFamily="34" charset="-128"/>
                  <a:ea typeface="Adobe 黑体 Std R" panose="020B0400000000000000" pitchFamily="34" charset="-128"/>
                </a:rPr>
                <a:t>test_data.xls</a:t>
              </a:r>
              <a:endParaRPr lang="zh-TW" altLang="en-US" sz="2000" dirty="0"/>
            </a:p>
          </p:txBody>
        </p:sp>
      </p:grpSp>
    </p:spTree>
    <p:extLst>
      <p:ext uri="{BB962C8B-B14F-4D97-AF65-F5344CB8AC3E}">
        <p14:creationId xmlns:p14="http://schemas.microsoft.com/office/powerpoint/2010/main" val="11096129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74</Words>
  <Application>Microsoft Office PowerPoint</Application>
  <PresentationFormat>寬螢幕</PresentationFormat>
  <Paragraphs>22</Paragraphs>
  <Slides>3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3</vt:i4>
      </vt:variant>
    </vt:vector>
  </HeadingPairs>
  <TitlesOfParts>
    <vt:vector size="8" baseType="lpstr">
      <vt:lpstr>Adobe 黑体 Std R</vt:lpstr>
      <vt:lpstr>Arial</vt:lpstr>
      <vt:lpstr>Calibri</vt:lpstr>
      <vt:lpstr>Calibri Light</vt:lpstr>
      <vt:lpstr>Office 佈景主題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琮惟 林</dc:creator>
  <cp:lastModifiedBy>琮惟 林</cp:lastModifiedBy>
  <cp:revision>4</cp:revision>
  <dcterms:created xsi:type="dcterms:W3CDTF">2021-03-29T18:16:01Z</dcterms:created>
  <dcterms:modified xsi:type="dcterms:W3CDTF">2021-04-17T12:55:42Z</dcterms:modified>
</cp:coreProperties>
</file>